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the name out loud, then the tagline. Pause for the laugh.</a:t>
            </a:r>
          </a:p>
          <a:p/>
          <a:p>
            <a:r>
              <a:t>Set expectations in two sentences:</a:t>
            </a:r>
          </a:p>
          <a:p>
            <a:r>
              <a:t>"This is a presentation about a scaffold I built on top of Claude Code. It takes the 'vibe coding' experience — describe what you want, let the AI build it — and wraps it with the structure you'd normally have to remember to add yourself: specs, audits, security review, checkpoints, the works."</a:t>
            </a:r>
          </a:p>
          <a:p/>
          <a:p>
            <a:r>
              <a:t>Don't dive into architecture yet. The next slide explains why this exists at all. Resist the urge to list features here — you have ten slides for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sure the room agrees on what 'vibe coding' means before you critique it. The term is fresh enough that half the audience will have heard it and half won't. Define it cleanly: you describe intent, the agent executes. That's it.</a:t>
            </a:r>
          </a:p>
          <a:p/>
          <a:p>
            <a:r>
              <a:t>The pivot in this slide is the last line — 'the reality without guardrails.' Land that beat hard. This is the problem statement for the whole talk. If the audience nods here, the rest of the deck writes itself.</a:t>
            </a:r>
          </a:p>
          <a:p/>
          <a:p>
            <a:r>
              <a:t>Concrete examples to drop if energy is low:</a:t>
            </a:r>
          </a:p>
          <a:p>
            <a:r>
              <a:t>  - 'I've watched Claude edit a failing test to make it pass.'</a:t>
            </a:r>
          </a:p>
          <a:p>
            <a:r>
              <a:t>  - 'I've watched it commit a .env file with a real API key.'</a:t>
            </a:r>
          </a:p>
          <a:p>
            <a:r>
              <a:t>  - 'I've watched it forget what it was building three messages in.'</a:t>
            </a:r>
          </a:p>
          <a:p>
            <a:r>
              <a:t>Pick one. Don't list all three.</a:t>
            </a:r>
          </a:p>
          <a:p/>
          <a:p>
            <a:r>
              <a:t>Transition: 'So I built something to fix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table top-to-bottom. One sentence per row, no more:</a:t>
            </a:r>
          </a:p>
          <a:p/>
          <a:p>
            <a:r>
              <a:t>  1. 'Sessions die. Without a checkpoint, you start from scratch.'</a:t>
            </a:r>
          </a:p>
          <a:p>
            <a:r>
              <a:t>  2. 'Agents are great at making tests pass — including by editing the test.'</a:t>
            </a:r>
          </a:p>
          <a:p>
            <a:r>
              <a:t>  3. 'Ask for a bug fix, get a 40-file refactor.'</a:t>
            </a:r>
          </a:p>
          <a:p>
            <a:r>
              <a:t>  4. 'Secrets in commits aren't theoretical. It's happened to me twice.'</a:t>
            </a:r>
          </a:p>
          <a:p>
            <a:r>
              <a:t>  5. 'When the agent does something weird, you want a transcript. Raw Claude Code doesn't keep one by default.'</a:t>
            </a:r>
          </a:p>
          <a:p/>
          <a:p>
            <a:r>
              <a:t>Land the closing line — the power-tool / jig metaphor — slowly. This is the mental model for the whole rest of the deck. The harness is not a replacement for Claude Code; it's the fixture that holds the work piece steady while the tool does its job.</a:t>
            </a:r>
          </a:p>
          <a:p/>
          <a:p>
            <a:r>
              <a:t>If anyone asks 'why not just be more careful?' — that's the exact question the next slide answers.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you can finally show the goods. Five bullets, each pointing at a directory in the repo. Don't read every bullet — point at the slide and call out the three that matter most:</a:t>
            </a:r>
          </a:p>
          <a:p/>
          <a:p>
            <a:r>
              <a:t>  - 'Commands are how YOU talk to it — slash commands you type.'</a:t>
            </a:r>
          </a:p>
          <a:p>
            <a:r>
              <a:t>  - 'Agents are how IT talks to itself — each one does one thing.'</a:t>
            </a:r>
          </a:p>
          <a:p>
            <a:r>
              <a:t>  - 'Hooks are the safety rails that fire whether the agent remembers to or not.'</a:t>
            </a:r>
          </a:p>
          <a:p/>
          <a:p>
            <a:r>
              <a:t>The last paragraph is important: this isn't a framework that owns your stack. It's pure Bash and Markdown. It doesn't care if your project is Python, Go, Rust, or TypeScript. That portability is the reason it's worth adopting.</a:t>
            </a:r>
          </a:p>
          <a:p/>
          <a:p>
            <a:r>
              <a:t>If someone asks 'is this open source / can I copy it?' — yes, that's exactly the point. The README has the copy-paste steps. (Slide 11 covers adoption.)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commands, three moods. Walk the row:</a:t>
            </a:r>
          </a:p>
          <a:p/>
          <a:p>
            <a:r>
              <a:t>  - '/run is the front door. Pitch me an idea — even a bad one — and it'll interrogate it into a spec before writing a line of code.'</a:t>
            </a:r>
          </a:p>
          <a:p>
            <a:r>
              <a:t>  - '/fast-lane is for when you don't want the Socratic dialogue. You've thought about it, you know what you want, just go.'</a:t>
            </a:r>
          </a:p>
          <a:p>
            <a:r>
              <a:t>  - '/resume is the unsung hero. Long agent runs die. Network blips, context fills up, you close the laptop. /resume reads checkpoint.json and drops you back in at the exact stage where things stopped.'</a:t>
            </a:r>
          </a:p>
          <a:p/>
          <a:p>
            <a:r>
              <a:t>The last paragraph is the emotional beat — anyone who's done serious agent work has lost a run at minute 45 and felt that specific kind of despair.</a:t>
            </a:r>
          </a:p>
          <a:p/>
          <a:p>
            <a:r>
              <a:t>Transition: 'What actually happens inside /run?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everything else hangs off. Don't rush.</a:t>
            </a:r>
          </a:p>
          <a:p/>
          <a:p>
            <a:r>
              <a:t>Walk it once at a high level:</a:t>
            </a:r>
          </a:p>
          <a:p>
            <a:r>
              <a:t>'Idea on the left, PR on the right. Everything in between is automated, but every stage produces a named artifact you can read and audit.'</a:t>
            </a:r>
          </a:p>
          <a:p/>
          <a:p>
            <a:r>
              <a:t>Then walk it again calling out the four moments that matter:</a:t>
            </a:r>
          </a:p>
          <a:p/>
          <a:p>
            <a:r>
              <a:t>  1. interrogator -&gt; spec-drafter: 'This is where vague becomes specific. You can't build the wrong thing if you couldn't articulate it.'</a:t>
            </a:r>
          </a:p>
          <a:p>
            <a:r>
              <a:t>  2. orchestrator -&gt; architect: 'Plan before code. The agent decomposes the work and proposes architecture BEFORE touching files.'</a:t>
            </a:r>
          </a:p>
          <a:p>
            <a:r>
              <a:t>  3. implementation-loop: 'Five iterations max. Tests drive the loop. If they don't pass, the loop runs again with the failure as context.'</a:t>
            </a:r>
          </a:p>
          <a:p>
            <a:r>
              <a:t>  4. karen + security-reviewer: 'Two independent audits at the end. karen checks did we build what was asked. security checks did we ship anything dangerous. Either can block the PR.'</a:t>
            </a:r>
          </a:p>
          <a:p/>
          <a:p>
            <a:r>
              <a:t>Inevitable question: 'Who's Karen?' — yes, she's named for the meme. She audits ruthlessly and returns PASS, PARTIAL, or FAIL.</a:t>
            </a:r>
          </a:p>
          <a:p/>
          <a:p>
            <a:r>
              <a:t>Optional aside if you have time: every arrow in this diagram corresponds to a markdown file in .claude/agents/. The whole pipeline is data — no hardcoded orchestration logic. That's why it's portable.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table. Let the audience scan it.</a:t>
            </a:r>
          </a:p>
          <a:p/>
          <a:p>
            <a:r>
              <a:t>What to say while they scan:</a:t>
            </a:r>
          </a:p>
          <a:p>
            <a:r>
              <a:t>'Twelve agents. Every one of them is under 200 lines of prompt. Every one has a single responsibility. If you've ever written a CLAUDE.md that's two thousand lines long trying to teach one giant agent every skill — this is the alternative. Small, composable, replaceable.'</a:t>
            </a:r>
          </a:p>
          <a:p/>
          <a:p>
            <a:r>
              <a:t>Then land the rule at the bottom hard:</a:t>
            </a:r>
          </a:p>
          <a:p>
            <a:r>
              <a:t>'If you can't describe what an agent does without using the word and, you have two agents pretending to be one. Split them.'</a:t>
            </a:r>
          </a:p>
          <a:p/>
          <a:p>
            <a:r>
              <a:t>Call out karen and agent-evaluator specifically as the meta-agents — they review the work of other agents. That's how the system catches itself when individual agents go off the rails.</a:t>
            </a:r>
          </a:p>
          <a:p/>
          <a:p>
            <a:r>
              <a:t>If asked which agent was hardest to write: orchestrator. Task decomposition is the place where vagueness becomes expensive.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security and SRE people lean in. Sell it hard.</a:t>
            </a:r>
          </a:p>
          <a:p/>
          <a:p>
            <a:r>
              <a:t>For each hook, one sentence:</a:t>
            </a:r>
          </a:p>
          <a:p/>
          <a:p>
            <a:r>
              <a:t>  - log_tool_call.sh: 'Every Bash command, every file edit, every web fetch — appended as JSONL. When the agent does something weird, you have a transcript.'</a:t>
            </a:r>
          </a:p>
          <a:p>
            <a:r>
              <a:t>  - secrets-postwrite.sh: 'The moment a file is written, it's scanned. If a credential lands, you know before you push.'</a:t>
            </a:r>
          </a:p>
          <a:p>
            <a:r>
              <a:t>  - test-immutability.sh: 'This is the one I'm proudest of. Agents are VERY good at making failing tests pass by editing the test. This hook blocks the edit at the tool-call level. New tests are fine. Existing tests are immutable.'</a:t>
            </a:r>
          </a:p>
          <a:p>
            <a:r>
              <a:t>  - git-commit-scope.sh: 'Diff before commit. Every time. The agent sees what it's about to commit and can bail if the scope is wrong.'</a:t>
            </a:r>
          </a:p>
          <a:p>
            <a:r>
              <a:t>  - session-autocommit.sh: 'Optional team mode — the agent's progress tracker auto-commits, so reviewers can watch the run live.'</a:t>
            </a:r>
          </a:p>
          <a:p/>
          <a:p>
            <a:r>
              <a:t>The closer is the key sentence: 'These fire whether the agent remembers them or not.' Hooks live in .claude/settings.json — they're harness-level guarantees, not agent-level intentions. The agent literally cannot bypass them; the runtime executes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 slide. You're answering the question: 'How do I know the agent didn't ship garbage?'</a:t>
            </a:r>
          </a:p>
          <a:p/>
          <a:p>
            <a:r>
              <a:t>Three gates, three answers:</a:t>
            </a:r>
          </a:p>
          <a:p/>
          <a:p>
            <a:r>
              <a:t>  - karen: 'Did we build what the spec asked for? Not does it run — does it match. She compares the diff to SPEC.md and returns a verdict. If she says PARTIAL or FAIL, the implementation loop runs again with her punch list as context.'</a:t>
            </a:r>
          </a:p>
          <a:p>
            <a:r>
              <a:t>  - security-reviewer: 'Did we ship anything dangerous? She's loaded with threat models specific to the app type. If you declared this is a web_app and an api, she'll check for OWASP top 10 plus API-specific risks. The checklists merge — no manual selection.'</a:t>
            </a:r>
          </a:p>
          <a:p>
            <a:r>
              <a:t>  - evaluate-run: 'Did each agent actually do its job well? This is the meta-gate — agent-evaluator scores every agent's output against its own criteria. It's how the harness detects when an individual agent is regressing.'</a:t>
            </a:r>
          </a:p>
          <a:p/>
          <a:p>
            <a:r>
              <a:t>Close with the line on the slide. No PR opens until all three are happy. That's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'Where does all this stuff live?'</a:t>
            </a:r>
          </a:p>
          <a:p/>
          <a:p>
            <a:r>
              <a:t>The point to land: everything for one run is in one folder. Not scattered across docs/, reports/, .claude/state/, and the git log. One folder.</a:t>
            </a:r>
          </a:p>
          <a:p/>
          <a:p>
            <a:r>
              <a:t>That single-root design is WHY cleanup, debugging, and resume are all trivial one-liners. The bottom row of the slide is the payoff.</a:t>
            </a:r>
          </a:p>
          <a:p/>
          <a:p>
            <a:r>
              <a:t>If you have time, point at PROGRESS_TRACKER.md specifically: in team mode that file auto-commits on every write, so a reviewer can pull the branch and watch the agent's progress as if they were pair programming.</a:t>
            </a:r>
          </a:p>
          <a:p/>
          <a:p>
            <a:r>
              <a:t>Optional: mention the two session modes (local-only vs collaborative) briefly. Local-only adds three lines to .git/info/exclude. Collaborative leaves them out and lets the auto-commit hook do its thing.</a:t>
            </a:r>
          </a:p>
          <a:p/>
          <a:p>
            <a:r>
              <a:t>Transition: 'OK — how do you actually use this on your own repo?'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this feel small. The barrier to adoption is the message.</a:t>
            </a:r>
          </a:p>
          <a:p/>
          <a:p>
            <a:r>
              <a:t>'Five steps. Two of them are optional. The other three are copy files, fill in a markdown file, and run a command. If you've used Claude Code at all, you can adopt this in fifteen minutes.'</a:t>
            </a:r>
          </a:p>
          <a:p/>
          <a:p>
            <a:r>
              <a:t>Specifically call out the no-runtime line. People hear 'harness' and brace for a Docker image, a server, a config file with seventeen YAML keys. None of that. It's markdown and bash.</a:t>
            </a:r>
          </a:p>
          <a:p/>
          <a:p>
            <a:r>
              <a:t>If anyone asks about CI: the .github/ folder ships with workflows for the standard hooks (secrets scan, test immutability) running on PRs too, so the guarantees extend beyond the local agent loop. Mention this only if asked — it's not the main beat.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closer before the demo. Don't walk every row — let people read.</a:t>
            </a:r>
          </a:p>
          <a:p/>
          <a:p>
            <a:r>
              <a:t>What to say while they read:</a:t>
            </a:r>
          </a:p>
          <a:p>
            <a:r>
              <a:t>'Plain Claude Code is incredibly capable. Nothing on this slide is a knock against it. The point is that everything in the right column is WORK — work you'd have to do yourself, every project, every session, with raw Claude Code. EFF-IT just bundles that work into a scaffold so you don't have to redo it.'</a:t>
            </a:r>
          </a:p>
          <a:p/>
          <a:p>
            <a:r>
              <a:t>If pressed on which row matters most, pick two:</a:t>
            </a:r>
          </a:p>
          <a:p>
            <a:r>
              <a:t>  - 'Tests adjusted to pass' — because it's invisible until production.</a:t>
            </a:r>
          </a:p>
          <a:p>
            <a:r>
              <a:t>  - 'Session crashes' — because it's the single biggest productivity killer in long agent runs.</a:t>
            </a:r>
          </a:p>
          <a:p/>
          <a:p>
            <a:r>
              <a:t>Transition to demo:</a:t>
            </a:r>
          </a:p>
          <a:p>
            <a:r>
              <a:t>'Let me show you what it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Pre-flight checklist before going live:</a:t>
            </a:r>
          </a:p>
          <a:p>
            <a:r>
              <a:t>  1. Repo is on a clean branch (the harness will create a new one).</a:t>
            </a:r>
          </a:p>
          <a:p>
            <a:r>
              <a:t>  2. CLAUDE.md has app_types declared, or be ready to explain why concerns are keyword-only.</a:t>
            </a:r>
          </a:p>
          <a:p>
            <a:r>
              <a:t>  3. Have a fixture session ready under sessions/ in case the live run stalls — you can pivot to /resume on the fixture.</a:t>
            </a:r>
          </a:p>
          <a:p>
            <a:r>
              <a:t>  4. Terminal font is large enough to read from the back of the room.</a:t>
            </a:r>
          </a:p>
          <a:p/>
          <a:p>
            <a:r>
              <a:t>Demo choice guidance:</a:t>
            </a:r>
          </a:p>
          <a:p>
            <a:r>
              <a:t>  - /run is the most impressive but also the longest. Pick this if you have 8+ minutes.</a:t>
            </a:r>
          </a:p>
          <a:p>
            <a:r>
              <a:t>  - /fast-lane is the safer choice for a short slot. Skip the interrogation.</a:t>
            </a:r>
          </a:p>
          <a:p>
            <a:r>
              <a:t>  - /resume is the rescue option — use this if live runs are flaky.</a:t>
            </a:r>
          </a:p>
          <a:p/>
          <a:p>
            <a:r>
              <a:t>Narrate as the agent works:</a:t>
            </a:r>
          </a:p>
          <a:p>
            <a:r>
              <a:t>  - When interrogator asks a question: 'Notice it's pushing back — it won't draft a spec until the ambiguity is resolved.'</a:t>
            </a:r>
          </a:p>
          <a:p>
            <a:r>
              <a:t>  - When the coder starts editing: 'Watch the secrets hook fire on every write — there's the JSONL line appearing in the log.'</a:t>
            </a:r>
          </a:p>
          <a:p>
            <a:r>
              <a:t>  - When karen returns: 'There's the audit. If she says PARTIAL, we loop.'</a:t>
            </a:r>
          </a:p>
          <a:p/>
          <a:p>
            <a:r>
              <a:t>Have a fallback: if the demo dies mid-flight, switch to showing sessions/&lt;a-completed-run&gt;/ in the file tree. The artifacts tell the story even without the live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room. If hands go up immediately, you've nailed the talk. If silence, prime the pump with one of the pre-baked questions on the slide.</a:t>
            </a:r>
          </a:p>
          <a:p/>
          <a:p>
            <a:r>
              <a:t>Hard questions you might get:</a:t>
            </a:r>
          </a:p>
          <a:p/>
          <a:p>
            <a:r>
              <a:t>  - 'Have you measured productivity gains?' — Be honest. 'No formal A/B, but the runs I would have abandoned without /resume are the strongest signal. Anecdotally, idea-to-PR for a small feature is under an hour.'</a:t>
            </a:r>
          </a:p>
          <a:p/>
          <a:p>
            <a:r>
              <a:t>  - 'What about cost? 12 agents per feature must burn tokens.' — Yes. The tradeoff is fewer failed runs and fewer round trips with humans for spec clarification. Net cost vs raw Claude Code is roughly comparable for non-trivial features; worse for trivial ones (use /fast-lane).</a:t>
            </a:r>
          </a:p>
          <a:p/>
          <a:p>
            <a:r>
              <a:t>  - 'Could the agent disable a hook?' — In principle, by editing .claude/settings.json. In practice, secrets-postwrite would scan the edit, and the agent has no instruction to do this. But: don't run this scaffold against a repo with sensitive secrets you haven't rotated. Defense in depth, not magic.</a:t>
            </a:r>
          </a:p>
          <a:p/>
          <a:p>
            <a:r>
              <a:t>  - 'Is this open source?' / 'How do I contribute?' — Insert your answers based on the repo's actual license status.</a:t>
            </a:r>
          </a:p>
          <a:p/>
          <a:p>
            <a:r>
              <a:t>Close with a callback to the title.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This is the pivot from 'here's the harness' to 'here's a real run of the harness, soup to nuts.'</a:t>
            </a:r>
          </a:p>
          <a:p/>
          <a:p>
            <a:r>
              <a:t>What to say:</a:t>
            </a:r>
          </a:p>
          <a:p>
            <a:r>
              <a:t>'The rest of the talk was about the harness. The rest of the deck is what one run looks like in practice. Thirty minutes, twelve agents, one merged PR, five cents in tokens. We're going to walk every stage with the actual screenshots from that session.'</a:t>
            </a:r>
          </a:p>
          <a:p/>
          <a:p>
            <a:r>
              <a:t>If you have time and the audience is engaged, mention you can also play the full screen recording — it's in pptx_refs/ next to the deck. Don't try to embed a 30 MB .mov in the slides; just have it ready in a side window if asked.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screenshots, two beats:</a:t>
            </a:r>
          </a:p>
          <a:p/>
          <a:p>
            <a:r>
              <a:t>LEFT (10:41:53): 'This is what kicking off a run looks like — type /run, Claude Code prompts you to allow the skill. That's the only friction in the whole 30 minutes.'</a:t>
            </a:r>
          </a:p>
          <a:p/>
          <a:p>
            <a:r>
              <a:t>RIGHT (10:43:26): 'A minute and a half later, the interrogator has summarized the idea back to me. Note the prompt at the bottom — Is this the right one-liner, or do you want to refine it? It will not draft a spec until you confirm or correct.'</a:t>
            </a:r>
          </a:p>
          <a:p/>
          <a:p>
            <a:r>
              <a:t>Optional aside: the model badge in the bottom-left switched from Sonnet 4.6 to Opus 4.7 between these two screenshots. The skill actually suggested the swap because Opus does deeper interrogation. Small UX detail, but it tells you the harness is opinionated about model choice per stage.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spec aloud. Let people scan it for ten seconds.</a:t>
            </a:r>
          </a:p>
          <a:p/>
          <a:p>
            <a:r>
              <a:t>What to say:</a:t>
            </a:r>
          </a:p>
          <a:p>
            <a:r>
              <a:t>'Every section you see here came out of the interrogator's Q&amp;A. Goals, non-goals, intended users, scope boundaries. This file becomes the contract — karen, the auditor agent at the end of the pipeline, literally diffs the implementation against this spec to decide PASS, PARTIAL, or FAIL.'</a:t>
            </a:r>
          </a:p>
          <a:p/>
          <a:p>
            <a:r>
              <a:t>Land this point: 'In raw vibe coding, the spec lives in chat history and gets lost. Here, it's a file. You can read it, share it, and the agents can re-read it whenever they drift.'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screenshots are SECURITY_CONCERNS.md, top half on the left, bottom half on the right. Walk through what's on screen:</a:t>
            </a:r>
          </a:p>
          <a:p/>
          <a:p>
            <a:r>
              <a:t>'The concern-resolver looked at the SPEC, looked at app_types declared in CLAUDE.md, and produced this merged checklist. SR-1 is timing-safe comparison. SR-2 is replay protection. SR-3 is no-secret-in-logs. Every one of these has a triggered-by reason and a remediation hint.'</a:t>
            </a:r>
          </a:p>
          <a:p/>
          <a:p>
            <a:r>
              <a:t>The key point: this happens BEFORE implementation. The architect agent reads this file and bakes the mitigations into the design. The security-reviewer at the end reads the SAME file to verify nothing was missed. One checklist, three agents.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of one architecture doc.</a:t>
            </a:r>
          </a:p>
          <a:p/>
          <a:p>
            <a:r>
              <a:t>LEFT: system context diagram. Note the trust boundary — webhooksig sits INSIDE the caller's request handler, after TLS termination, before business logic. The architect agent drew this. ASCII art, not Mermaid — because it has to render in any markdown viewer, including git diff.</a:t>
            </a:r>
          </a:p>
          <a:p/>
          <a:p>
            <a:r>
              <a:t>RIGHT: the data-flow section. Pseudocode for the call path through verify_github and verify_stripe. This is the algorithm being settled BEFORE any code is written. By the time the coder agent gets a task, all of these decisions are pre-made.</a:t>
            </a:r>
          </a:p>
          <a:p/>
          <a:p>
            <a:r>
              <a:t>Land it: 'Most agent runs go straight from spec to code. The architect step is what stops the coder from re-deciding architecture in every function it writes.'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'Four agents running in parallel — fixing test mismatches and implementing the P2 module tier.' This is the orchestrator's decomposition paying off — independent tasks fan out to independent coders. Wall-clock for this phase: under five minutes.</a:t>
            </a:r>
          </a:p>
          <a:p/>
          <a:p>
            <a:r>
              <a:t>RIGHT: this is the moment that justifies the advisor tool. The coder hit an ambiguous spec edge — what's the right max_header_length bound? Instead of guessing, it consulted the stronger advisor model. The advisor reviewed the full transcript and confirmed the approach.</a:t>
            </a:r>
          </a:p>
          <a:p/>
          <a:p>
            <a:r>
              <a:t>Key point: 'The advisor isn't a fallback for failure. It's a second-opinion mechanism for decisions that have consequences. The coder used it correctly here — at a branch point, before committing to an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'agents in the loop' becomes 'humans still in the loop when it counts.'</a:t>
            </a:r>
          </a:p>
          <a:p/>
          <a:p>
            <a:r>
              <a:t>Walk the screenshot:</a:t>
            </a:r>
          </a:p>
          <a:p>
            <a:r>
              <a:t>  - pytest result: 160 passing, 22 failing</a:t>
            </a:r>
          </a:p>
          <a:p>
            <a:r>
              <a:t>  - karen identifies: '22 failures — all pre-existing test bugs from     the unit-test-writer (wrong kwargs, wrong provider expectations,     test design mismatches)'</a:t>
            </a:r>
          </a:p>
          <a:p>
            <a:r>
              <a:t>  - Karen presents options. The human picked Option C — accept the     pre-existing failures, proceed.</a:t>
            </a:r>
          </a:p>
          <a:p/>
          <a:p>
            <a:r>
              <a:t>What to say:</a:t>
            </a:r>
          </a:p>
          <a:p>
            <a:r>
              <a:t>'Karen could have looped forever trying to fix unit-test-writer's bugs. Instead, she recognized the failure pattern, escalated with options, and let me make the call. This is the difference between an autonomous agent that wastes 20 minutes and a harness that knows when to ask.'</a:t>
            </a:r>
          </a:p>
          <a:p/>
          <a:p>
            <a:r>
              <a:t>Optional follow-up: the 22 pre-existing bugs got logged in PROBLEMS.md and PLAN.md for a future run to address. Nothing got swept under the rug.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money shot. Don't talk over it for the first ten seconds — let people read.</a:t>
            </a:r>
          </a:p>
          <a:p/>
          <a:p>
            <a:r>
              <a:t>When you talk, hit the rows that matter:</a:t>
            </a:r>
          </a:p>
          <a:p>
            <a:r>
              <a:t>  - 'TDD red phase: 182 tests written BEFORE implementation. That's     the test-immutability hook earning its keep — agents wrote tests     first, then code to make them pass.'</a:t>
            </a:r>
          </a:p>
          <a:p>
            <a:r>
              <a:t>  - 'Parallel + sequential split: the orchestrator decided which work     was safe to parallelize. P1/P2 groups (types, core, providers) in     parallel. S1/S2 (cli, entrypoint) sequential because they depend     on the others.'</a:t>
            </a:r>
          </a:p>
          <a:p>
            <a:r>
              <a:t>  - 'Karen: PARTIAL. Why partial and not PASS? She flagged a     .gitignore hiding src/, plus a provider-unknown design note.     Both legitimate, both reviewable.'</a:t>
            </a:r>
          </a:p>
          <a:p>
            <a:r>
              <a:t>  - 'Security review: two medium items. SR-1 (UnicodeDecodeError in     Stripe) fixed in the same run. SR-2 (secret visible in process     arg list) documented in PLAN.md for follow-up. Neither shipped     silently.'</a:t>
            </a:r>
          </a:p>
          <a:p/>
          <a:p>
            <a:r>
              <a:t>Land the closer:</a:t>
            </a:r>
          </a:p>
          <a:p>
            <a:r>
              <a:t>'30 minutes, 13 seconds. Two commits, PR open. Real working library. This is what the green column of slide 12 actually looks like in wall-clock time.'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for the skeptics. On slide 8 you claimed an audit trail. Here it is.</a:t>
            </a:r>
          </a:p>
          <a:p/>
          <a:p>
            <a:r>
              <a:t>What to say:</a:t>
            </a:r>
          </a:p>
          <a:p>
            <a:r>
              <a:t>'These are excerpts from sessions/20260520-2116/session_log.json. Every tool call the agents made during the run got appended to this file. Bash commands, file reads, file writes, sub-agent invocations, everything. When something goes weird in a run — and things do go weird — this is the file you grep.'</a:t>
            </a:r>
          </a:p>
          <a:p/>
          <a:p>
            <a:r>
              <a:t>If asked what you actually do with the log:</a:t>
            </a:r>
          </a:p>
          <a:p>
            <a:r>
              <a:t>  - Replay a run mentally without re-running it</a:t>
            </a:r>
          </a:p>
          <a:p>
            <a:r>
              <a:t>  - Find which agent touched a specific file</a:t>
            </a:r>
          </a:p>
          <a:p>
            <a:r>
              <a:t>  - Measure how often a given tool gets called</a:t>
            </a:r>
          </a:p>
          <a:p>
            <a:r>
              <a:t>  - Catch agents trying things they shouldn't (the hooks block most,     but the log shows the attempt)</a:t>
            </a:r>
          </a:p>
          <a:p/>
          <a:p>
            <a:r>
              <a:t>If the audience is non-technical, you can soft-pedal this slide: 'For the engineers in the room — yes, every action is logged. Moving on.' and skip the deep-dive.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47120" cy="1371600"/>
          </a:xfrm>
          <a:prstGeom prst="rect">
            <a:avLst/>
          </a:prstGeom>
          <a:noFill/>
        </p:spPr>
        <p:txBody>
          <a:bodyPr wrap="square" lIns="45720" rIns="45720" tIns="18288" bIns="18288">
            <a:spAutoFit/>
          </a:bodyPr>
          <a:lstStyle/>
          <a:p>
            <a:pPr algn="ctr"/>
            <a:r>
              <a:rPr sz="9600" b="1">
                <a:solidFill>
                  <a:srgbClr val="6EE7B7"/>
                </a:solidFill>
                <a:latin typeface="Segoe UI"/>
              </a:rPr>
              <a:t>EFF-IT</a:t>
            </a:r>
          </a:p>
        </p:txBody>
      </p:sp>
      <p:sp>
        <p:nvSpPr>
          <p:cNvPr id="4" name="TextBox 3"/>
          <p:cNvSpPr txBox="1"/>
          <p:nvPr/>
        </p:nvSpPr>
        <p:spPr>
          <a:xfrm>
            <a:off x="457200" y="3200400"/>
            <a:ext cx="11247120" cy="548640"/>
          </a:xfrm>
          <a:prstGeom prst="rect">
            <a:avLst/>
          </a:prstGeom>
          <a:noFill/>
        </p:spPr>
        <p:txBody>
          <a:bodyPr wrap="square" lIns="45720" rIns="45720" tIns="18288" bIns="18288">
            <a:spAutoFit/>
          </a:bodyPr>
          <a:lstStyle/>
          <a:p>
            <a:pPr algn="ctr"/>
            <a:r>
              <a:rPr sz="2400" b="0">
                <a:solidFill>
                  <a:srgbClr val="E8ECF1"/>
                </a:solidFill>
                <a:latin typeface="Segoe UI"/>
              </a:rPr>
              <a:t>A Claude Code harness for vibe-driven software delivery</a:t>
            </a:r>
          </a:p>
        </p:txBody>
      </p:sp>
      <p:sp>
        <p:nvSpPr>
          <p:cNvPr id="5" name="Rounded Rectangle 4"/>
          <p:cNvSpPr/>
          <p:nvPr/>
        </p:nvSpPr>
        <p:spPr>
          <a:xfrm>
            <a:off x="2286000" y="4206240"/>
            <a:ext cx="7589520" cy="91440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4343400"/>
            <a:ext cx="7589520" cy="640080"/>
          </a:xfrm>
          <a:prstGeom prst="rect">
            <a:avLst/>
          </a:prstGeom>
          <a:noFill/>
        </p:spPr>
        <p:txBody>
          <a:bodyPr wrap="square" lIns="45720" rIns="45720" tIns="18288" bIns="18288">
            <a:spAutoFit/>
          </a:bodyPr>
          <a:lstStyle/>
          <a:p>
            <a:pPr algn="ctr"/>
            <a:r>
              <a:rPr sz="2000" b="0">
                <a:solidFill>
                  <a:srgbClr val="6EE7B7"/>
                </a:solidFill>
                <a:latin typeface="Segoe UI"/>
              </a:rPr>
              <a:t>“You know what? EFF-IT. Let the agents handle it.”</a:t>
            </a:r>
          </a:p>
        </p:txBody>
      </p:sp>
      <p:sp>
        <p:nvSpPr>
          <p:cNvPr id="7" name="TextBox 6"/>
          <p:cNvSpPr txBox="1"/>
          <p:nvPr/>
        </p:nvSpPr>
        <p:spPr>
          <a:xfrm>
            <a:off x="457200" y="6126480"/>
            <a:ext cx="11247120" cy="365760"/>
          </a:xfrm>
          <a:prstGeom prst="rect">
            <a:avLst/>
          </a:prstGeom>
          <a:noFill/>
        </p:spPr>
        <p:txBody>
          <a:bodyPr wrap="square" lIns="45720" rIns="45720" tIns="18288" bIns="18288">
            <a:spAutoFit/>
          </a:bodyPr>
          <a:lstStyle/>
          <a:p>
            <a:pPr algn="ctr"/>
            <a:r>
              <a:rPr sz="1200" b="0">
                <a:solidFill>
                  <a:srgbClr val="9AA3AF"/>
                </a:solidFill>
                <a:latin typeface="Segoe UI"/>
              </a:rPr>
              <a:t>lizhang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What is "vibe coding"?</a:t>
            </a:r>
          </a:p>
        </p:txBody>
      </p:sp>
      <p:sp>
        <p:nvSpPr>
          <p:cNvPr id="5" name="Oval 4"/>
          <p:cNvSpPr/>
          <p:nvPr/>
        </p:nvSpPr>
        <p:spPr>
          <a:xfrm>
            <a:off x="822960" y="1810512"/>
            <a:ext cx="137160" cy="137160"/>
          </a:xfrm>
          <a:prstGeom prst="ellipse">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515600" cy="457200"/>
          </a:xfrm>
          <a:prstGeom prst="rect">
            <a:avLst/>
          </a:prstGeom>
          <a:noFill/>
        </p:spPr>
        <p:txBody>
          <a:bodyPr wrap="square" lIns="45720" rIns="45720" tIns="18288" bIns="18288">
            <a:spAutoFit/>
          </a:bodyPr>
          <a:lstStyle/>
          <a:p>
            <a:pPr algn="l"/>
            <a:r>
              <a:rPr sz="2000" b="0">
                <a:solidFill>
                  <a:srgbClr val="E8ECF1"/>
                </a:solidFill>
                <a:latin typeface="Segoe UI"/>
              </a:rPr>
              <a:t>You describe intent in plain language</a:t>
            </a:r>
          </a:p>
        </p:txBody>
      </p:sp>
      <p:sp>
        <p:nvSpPr>
          <p:cNvPr id="7" name="Oval 6"/>
          <p:cNvSpPr/>
          <p:nvPr/>
        </p:nvSpPr>
        <p:spPr>
          <a:xfrm>
            <a:off x="822960" y="2450592"/>
            <a:ext cx="137160" cy="137160"/>
          </a:xfrm>
          <a:prstGeom prst="ellipse">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86000"/>
            <a:ext cx="10515600" cy="457200"/>
          </a:xfrm>
          <a:prstGeom prst="rect">
            <a:avLst/>
          </a:prstGeom>
          <a:noFill/>
        </p:spPr>
        <p:txBody>
          <a:bodyPr wrap="square" lIns="45720" rIns="45720" tIns="18288" bIns="18288">
            <a:spAutoFit/>
          </a:bodyPr>
          <a:lstStyle/>
          <a:p>
            <a:pPr algn="l"/>
            <a:r>
              <a:rPr sz="2000" b="0">
                <a:solidFill>
                  <a:srgbClr val="E8ECF1"/>
                </a:solidFill>
                <a:latin typeface="Segoe UI"/>
              </a:rPr>
              <a:t>The agent reads the repo, writes code, runs tests, opens the PR</a:t>
            </a:r>
          </a:p>
        </p:txBody>
      </p:sp>
      <p:sp>
        <p:nvSpPr>
          <p:cNvPr id="9" name="Oval 8"/>
          <p:cNvSpPr/>
          <p:nvPr/>
        </p:nvSpPr>
        <p:spPr>
          <a:xfrm>
            <a:off x="822960" y="3090672"/>
            <a:ext cx="137160" cy="137160"/>
          </a:xfrm>
          <a:prstGeom prst="ellipse">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926080"/>
            <a:ext cx="10515600" cy="457200"/>
          </a:xfrm>
          <a:prstGeom prst="rect">
            <a:avLst/>
          </a:prstGeom>
          <a:noFill/>
        </p:spPr>
        <p:txBody>
          <a:bodyPr wrap="square" lIns="45720" rIns="45720" tIns="18288" bIns="18288">
            <a:spAutoFit/>
          </a:bodyPr>
          <a:lstStyle/>
          <a:p>
            <a:pPr algn="l"/>
            <a:r>
              <a:rPr sz="2000" b="0">
                <a:solidFill>
                  <a:srgbClr val="E8ECF1"/>
                </a:solidFill>
                <a:latin typeface="Segoe UI"/>
              </a:rPr>
              <a:t>You stay in the driver's seat — but you're not typing every line</a:t>
            </a:r>
          </a:p>
        </p:txBody>
      </p:sp>
      <p:sp>
        <p:nvSpPr>
          <p:cNvPr id="11" name="Rounded Rectangle 10"/>
          <p:cNvSpPr/>
          <p:nvPr/>
        </p:nvSpPr>
        <p:spPr>
          <a:xfrm>
            <a:off x="685800" y="4023360"/>
            <a:ext cx="10789920" cy="8229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60520"/>
            <a:ext cx="10515600" cy="640080"/>
          </a:xfrm>
          <a:prstGeom prst="rect">
            <a:avLst/>
          </a:prstGeom>
          <a:noFill/>
        </p:spPr>
        <p:txBody>
          <a:bodyPr wrap="square">
            <a:spAutoFit/>
          </a:bodyPr>
          <a:lstStyle/>
          <a:p>
            <a:r>
              <a:rPr sz="1800" b="1" i="0">
                <a:solidFill>
                  <a:srgbClr val="6EE7B7"/>
                </a:solidFill>
                <a:latin typeface="Segoe UI"/>
              </a:rPr>
              <a:t>The promise: </a:t>
            </a:r>
            <a:r>
              <a:rPr sz="1800" b="0" i="0">
                <a:solidFill>
                  <a:srgbClr val="E8ECF1"/>
                </a:solidFill>
                <a:latin typeface="Segoe UI"/>
              </a:rPr>
              <a:t>ship features at the speed of thought.</a:t>
            </a:r>
          </a:p>
        </p:txBody>
      </p:sp>
      <p:sp>
        <p:nvSpPr>
          <p:cNvPr id="13" name="Rounded Rectangle 12"/>
          <p:cNvSpPr/>
          <p:nvPr/>
        </p:nvSpPr>
        <p:spPr>
          <a:xfrm>
            <a:off x="685800" y="4983480"/>
            <a:ext cx="10789920" cy="91440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120640"/>
            <a:ext cx="10515600" cy="731520"/>
          </a:xfrm>
          <a:prstGeom prst="rect">
            <a:avLst/>
          </a:prstGeom>
          <a:noFill/>
        </p:spPr>
        <p:txBody>
          <a:bodyPr wrap="square">
            <a:spAutoFit/>
          </a:bodyPr>
          <a:lstStyle/>
          <a:p>
            <a:r>
              <a:rPr sz="1800" b="1" i="0">
                <a:solidFill>
                  <a:srgbClr val="F87271"/>
                </a:solidFill>
                <a:latin typeface="Segoe UI"/>
              </a:rPr>
              <a:t>The reality (without guardrails): </a:t>
            </a:r>
            <a:r>
              <a:rPr sz="1800" b="0" i="0">
                <a:solidFill>
                  <a:srgbClr val="E8ECF1"/>
                </a:solidFill>
                <a:latin typeface="Segoe UI"/>
              </a:rPr>
              <a:t>drift, half-done work, broken tests, leaked secrets.</a:t>
            </a:r>
          </a:p>
        </p:txBody>
      </p:sp>
      <p:sp>
        <p:nvSpPr>
          <p:cNvPr id="15" name="TextBox 14"/>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6" name="TextBox 15"/>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The problem with raw vibe coding</a:t>
            </a:r>
          </a:p>
        </p:txBody>
      </p:sp>
      <p:graphicFrame>
        <p:nvGraphicFramePr>
          <p:cNvPr id="5" name="Table 4"/>
          <p:cNvGraphicFramePr>
            <a:graphicFrameLocks noGrp="1"/>
          </p:cNvGraphicFramePr>
          <p:nvPr/>
        </p:nvGraphicFramePr>
        <p:xfrm>
          <a:off x="685800" y="1554480"/>
          <a:ext cx="10789920" cy="3200400"/>
        </p:xfrm>
        <a:graphic>
          <a:graphicData uri="http://schemas.openxmlformats.org/drawingml/2006/table">
            <a:tbl>
              <a:tblPr firstRow="1" bandRow="1">
                <a:tableStyleId>{5C22544A-7EE6-4342-B048-85BDC9FD1C3A}</a:tableStyleId>
              </a:tblPr>
              <a:tblGrid>
                <a:gridCol w="5394960"/>
                <a:gridCol w="5394960"/>
              </a:tblGrid>
              <a:tr h="533400">
                <a:tc>
                  <a:txBody>
                    <a:bodyPr wrap="square"/>
                    <a:lstStyle/>
                    <a:p>
                      <a:r>
                        <a:rPr sz="1600" b="1">
                          <a:solidFill>
                            <a:srgbClr val="0F141A"/>
                          </a:solidFill>
                          <a:latin typeface="Segoe UI"/>
                        </a:rPr>
                        <a:t>What happens</a:t>
                      </a:r>
                    </a:p>
                  </a:txBody>
                  <a:tcPr>
                    <a:solidFill>
                      <a:srgbClr val="34A87E"/>
                    </a:solidFill>
                  </a:tcPr>
                </a:tc>
                <a:tc>
                  <a:txBody>
                    <a:bodyPr wrap="square"/>
                    <a:lstStyle/>
                    <a:p>
                      <a:r>
                        <a:rPr sz="1600" b="1">
                          <a:solidFill>
                            <a:srgbClr val="0F141A"/>
                          </a:solidFill>
                          <a:latin typeface="Segoe UI"/>
                        </a:rPr>
                        <a:t>Why it's painful</a:t>
                      </a:r>
                    </a:p>
                  </a:txBody>
                  <a:tcPr>
                    <a:solidFill>
                      <a:srgbClr val="34A87E"/>
                    </a:solidFill>
                  </a:tcPr>
                </a:tc>
              </a:tr>
              <a:tr h="533400">
                <a:tc>
                  <a:txBody>
                    <a:bodyPr wrap="square"/>
                    <a:lstStyle/>
                    <a:p>
                      <a:r>
                        <a:rPr sz="1600" b="0">
                          <a:solidFill>
                            <a:srgbClr val="E8ECF1"/>
                          </a:solidFill>
                          <a:latin typeface="Segoe UI"/>
                        </a:rPr>
                        <a:t>Agent forgets context mid-feature</a:t>
                      </a:r>
                    </a:p>
                  </a:txBody>
                  <a:tcPr>
                    <a:solidFill>
                      <a:srgbClr val="181F2A"/>
                    </a:solidFill>
                  </a:tcPr>
                </a:tc>
                <a:tc>
                  <a:txBody>
                    <a:bodyPr wrap="square"/>
                    <a:lstStyle/>
                    <a:p>
                      <a:r>
                        <a:rPr sz="1600" b="0">
                          <a:solidFill>
                            <a:srgbClr val="E8ECF1"/>
                          </a:solidFill>
                          <a:latin typeface="Segoe UI"/>
                        </a:rPr>
                        <a:t>Start over, lose state</a:t>
                      </a:r>
                    </a:p>
                  </a:txBody>
                  <a:tcPr>
                    <a:solidFill>
                      <a:srgbClr val="181F2A"/>
                    </a:solidFill>
                  </a:tcPr>
                </a:tc>
              </a:tr>
              <a:tr h="533400">
                <a:tc>
                  <a:txBody>
                    <a:bodyPr wrap="square"/>
                    <a:lstStyle/>
                    <a:p>
                      <a:r>
                        <a:rPr sz="1600" b="0">
                          <a:solidFill>
                            <a:srgbClr val="E8ECF1"/>
                          </a:solidFill>
                          <a:latin typeface="Segoe UI"/>
                        </a:rPr>
                        <a:t>Tests get "adjusted" to pass</a:t>
                      </a:r>
                    </a:p>
                  </a:txBody>
                  <a:tcPr>
                    <a:solidFill>
                      <a:srgbClr val="0F141A"/>
                    </a:solidFill>
                  </a:tcPr>
                </a:tc>
                <a:tc>
                  <a:txBody>
                    <a:bodyPr wrap="square"/>
                    <a:lstStyle/>
                    <a:p>
                      <a:r>
                        <a:rPr sz="1600" b="0">
                          <a:solidFill>
                            <a:srgbClr val="E8ECF1"/>
                          </a:solidFill>
                          <a:latin typeface="Segoe UI"/>
                        </a:rPr>
                        <a:t>False green builds</a:t>
                      </a:r>
                    </a:p>
                  </a:txBody>
                  <a:tcPr>
                    <a:solidFill>
                      <a:srgbClr val="0F141A"/>
                    </a:solidFill>
                  </a:tcPr>
                </a:tc>
              </a:tr>
              <a:tr h="533400">
                <a:tc>
                  <a:txBody>
                    <a:bodyPr wrap="square"/>
                    <a:lstStyle/>
                    <a:p>
                      <a:r>
                        <a:rPr sz="1600" b="0">
                          <a:solidFill>
                            <a:srgbClr val="E8ECF1"/>
                          </a:solidFill>
                          <a:latin typeface="Segoe UI"/>
                        </a:rPr>
                        <a:t>Scope creeps silently</a:t>
                      </a:r>
                    </a:p>
                  </a:txBody>
                  <a:tcPr>
                    <a:solidFill>
                      <a:srgbClr val="181F2A"/>
                    </a:solidFill>
                  </a:tcPr>
                </a:tc>
                <a:tc>
                  <a:txBody>
                    <a:bodyPr wrap="square"/>
                    <a:lstStyle/>
                    <a:p>
                      <a:r>
                        <a:rPr sz="1600" b="0">
                          <a:solidFill>
                            <a:srgbClr val="E8ECF1"/>
                          </a:solidFill>
                          <a:latin typeface="Segoe UI"/>
                        </a:rPr>
                        <a:t>Reviewer surprise</a:t>
                      </a:r>
                    </a:p>
                  </a:txBody>
                  <a:tcPr>
                    <a:solidFill>
                      <a:srgbClr val="181F2A"/>
                    </a:solidFill>
                  </a:tcPr>
                </a:tc>
              </a:tr>
              <a:tr h="533400">
                <a:tc>
                  <a:txBody>
                    <a:bodyPr wrap="square"/>
                    <a:lstStyle/>
                    <a:p>
                      <a:r>
                        <a:rPr sz="1600" b="0">
                          <a:solidFill>
                            <a:srgbClr val="E8ECF1"/>
                          </a:solidFill>
                          <a:latin typeface="Segoe UI"/>
                        </a:rPr>
                        <a:t>Secrets land in commits</a:t>
                      </a:r>
                    </a:p>
                  </a:txBody>
                  <a:tcPr>
                    <a:solidFill>
                      <a:srgbClr val="0F141A"/>
                    </a:solidFill>
                  </a:tcPr>
                </a:tc>
                <a:tc>
                  <a:txBody>
                    <a:bodyPr wrap="square"/>
                    <a:lstStyle/>
                    <a:p>
                      <a:r>
                        <a:rPr sz="1600" b="0">
                          <a:solidFill>
                            <a:srgbClr val="E8ECF1"/>
                          </a:solidFill>
                          <a:latin typeface="Segoe UI"/>
                        </a:rPr>
                        <a:t>Rotate, redeploy, apologize</a:t>
                      </a:r>
                    </a:p>
                  </a:txBody>
                  <a:tcPr>
                    <a:solidFill>
                      <a:srgbClr val="0F141A"/>
                    </a:solidFill>
                  </a:tcPr>
                </a:tc>
              </a:tr>
              <a:tr h="533400">
                <a:tc>
                  <a:txBody>
                    <a:bodyPr wrap="square"/>
                    <a:lstStyle/>
                    <a:p>
                      <a:r>
                        <a:rPr sz="1600" b="0">
                          <a:solidFill>
                            <a:srgbClr val="E8ECF1"/>
                          </a:solidFill>
                          <a:latin typeface="Segoe UI"/>
                        </a:rPr>
                        <a:t>No record of why anything happened</a:t>
                      </a:r>
                    </a:p>
                  </a:txBody>
                  <a:tcPr>
                    <a:solidFill>
                      <a:srgbClr val="181F2A"/>
                    </a:solidFill>
                  </a:tcPr>
                </a:tc>
                <a:tc>
                  <a:txBody>
                    <a:bodyPr wrap="square"/>
                    <a:lstStyle/>
                    <a:p>
                      <a:r>
                        <a:rPr sz="1600" b="0">
                          <a:solidFill>
                            <a:srgbClr val="E8ECF1"/>
                          </a:solidFill>
                          <a:latin typeface="Segoe UI"/>
                        </a:rPr>
                        <a:t>Can't debug the agent itself</a:t>
                      </a:r>
                    </a:p>
                  </a:txBody>
                  <a:tcPr>
                    <a:solidFill>
                      <a:srgbClr val="181F2A"/>
                    </a:solidFill>
                  </a:tcPr>
                </a:tc>
              </a:tr>
            </a:tbl>
          </a:graphicData>
        </a:graphic>
      </p:graphicFrame>
      <p:sp>
        <p:nvSpPr>
          <p:cNvPr id="6" name="Rounded Rectangle 5"/>
          <p:cNvSpPr/>
          <p:nvPr/>
        </p:nvSpPr>
        <p:spPr>
          <a:xfrm>
            <a:off x="685800" y="5120640"/>
            <a:ext cx="10789920" cy="100584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257800"/>
            <a:ext cx="10515600" cy="822960"/>
          </a:xfrm>
          <a:prstGeom prst="rect">
            <a:avLst/>
          </a:prstGeom>
          <a:noFill/>
        </p:spPr>
        <p:txBody>
          <a:bodyPr wrap="square">
            <a:spAutoFit/>
          </a:bodyPr>
          <a:lstStyle/>
          <a:p>
            <a:r>
              <a:rPr sz="2000" b="0" i="0">
                <a:solidFill>
                  <a:srgbClr val="E8ECF1"/>
                </a:solidFill>
                <a:latin typeface="Segoe UI"/>
              </a:rPr>
              <a:t>Raw Claude Code is a </a:t>
            </a:r>
            <a:r>
              <a:rPr sz="2000" b="1" i="0">
                <a:solidFill>
                  <a:srgbClr val="F5C249"/>
                </a:solidFill>
                <a:latin typeface="Segoe UI"/>
              </a:rPr>
              <a:t>power tool</a:t>
            </a:r>
            <a:r>
              <a:rPr sz="2000" b="0" i="0">
                <a:solidFill>
                  <a:srgbClr val="E8ECF1"/>
                </a:solidFill>
                <a:latin typeface="Segoe UI"/>
              </a:rPr>
              <a:t>. EFF-IT is the </a:t>
            </a:r>
            <a:r>
              <a:rPr sz="2000" b="1" i="0">
                <a:solidFill>
                  <a:srgbClr val="6EE7B7"/>
                </a:solidFill>
                <a:latin typeface="Segoe UI"/>
              </a:rPr>
              <a:t>jig</a:t>
            </a:r>
            <a:r>
              <a:rPr sz="2000" b="0" i="0">
                <a:solidFill>
                  <a:srgbClr val="E8ECF1"/>
                </a:solidFill>
                <a:latin typeface="Segoe UI"/>
              </a:rPr>
              <a:t> that makes it safe.</a:t>
            </a:r>
          </a:p>
        </p:txBody>
      </p:sp>
      <p:sp>
        <p:nvSpPr>
          <p:cNvPr id="8" name="TextBox 7"/>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9" name="TextBox 8"/>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What EFF-IT is</a:t>
            </a:r>
          </a:p>
        </p:txBody>
      </p:sp>
      <p:sp>
        <p:nvSpPr>
          <p:cNvPr id="5" name="TextBox 4"/>
          <p:cNvSpPr txBox="1"/>
          <p:nvPr/>
        </p:nvSpPr>
        <p:spPr>
          <a:xfrm>
            <a:off x="685800" y="914400"/>
            <a:ext cx="10972800" cy="365760"/>
          </a:xfrm>
          <a:prstGeom prst="rect">
            <a:avLst/>
          </a:prstGeom>
          <a:noFill/>
        </p:spPr>
        <p:txBody>
          <a:bodyPr wrap="square" lIns="45720" rIns="45720" tIns="18288" bIns="18288">
            <a:spAutoFit/>
          </a:bodyPr>
          <a:lstStyle/>
          <a:p>
            <a:pPr algn="l"/>
            <a:r>
              <a:rPr sz="1400" b="0">
                <a:solidFill>
                  <a:srgbClr val="9AA3AF"/>
                </a:solidFill>
                <a:latin typeface="Segoe UI"/>
              </a:rPr>
              <a:t>A drop-in scaffold for any repo</a:t>
            </a:r>
          </a:p>
        </p:txBody>
      </p:sp>
      <p:sp>
        <p:nvSpPr>
          <p:cNvPr id="6" name="Rounded Rectangle 5"/>
          <p:cNvSpPr/>
          <p:nvPr/>
        </p:nvSpPr>
        <p:spPr>
          <a:xfrm>
            <a:off x="685800" y="1554480"/>
            <a:ext cx="10789920" cy="5943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7"/>
            <a:ext cx="3474720" cy="457200"/>
          </a:xfrm>
          <a:prstGeom prst="rect">
            <a:avLst/>
          </a:prstGeom>
          <a:noFill/>
        </p:spPr>
        <p:txBody>
          <a:bodyPr wrap="square" lIns="45720" rIns="45720" tIns="18288" bIns="18288">
            <a:spAutoFit/>
          </a:bodyPr>
          <a:lstStyle/>
          <a:p>
            <a:pPr algn="l"/>
            <a:r>
              <a:rPr sz="1500" b="1">
                <a:solidFill>
                  <a:srgbClr val="6EE7B7"/>
                </a:solidFill>
                <a:latin typeface="Consolas"/>
              </a:rPr>
              <a:t>.claude/commands/</a:t>
            </a:r>
          </a:p>
        </p:txBody>
      </p:sp>
      <p:sp>
        <p:nvSpPr>
          <p:cNvPr id="8" name="TextBox 7"/>
          <p:cNvSpPr txBox="1"/>
          <p:nvPr/>
        </p:nvSpPr>
        <p:spPr>
          <a:xfrm>
            <a:off x="4480560" y="1664207"/>
            <a:ext cx="7132320" cy="457200"/>
          </a:xfrm>
          <a:prstGeom prst="rect">
            <a:avLst/>
          </a:prstGeom>
          <a:noFill/>
        </p:spPr>
        <p:txBody>
          <a:bodyPr wrap="square" lIns="45720" rIns="45720" tIns="18288" bIns="18288">
            <a:spAutoFit/>
          </a:bodyPr>
          <a:lstStyle/>
          <a:p>
            <a:pPr algn="l"/>
            <a:r>
              <a:rPr sz="1500" b="0">
                <a:solidFill>
                  <a:srgbClr val="E8ECF1"/>
                </a:solidFill>
                <a:latin typeface="Segoe UI"/>
              </a:rPr>
              <a:t>slash-command workflows (/run, /fast-lane, /resume)</a:t>
            </a:r>
          </a:p>
        </p:txBody>
      </p:sp>
      <p:sp>
        <p:nvSpPr>
          <p:cNvPr id="9" name="Rounded Rectangle 8"/>
          <p:cNvSpPr/>
          <p:nvPr/>
        </p:nvSpPr>
        <p:spPr>
          <a:xfrm>
            <a:off x="685800" y="2286000"/>
            <a:ext cx="10789920" cy="5943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95728"/>
            <a:ext cx="3474720" cy="457200"/>
          </a:xfrm>
          <a:prstGeom prst="rect">
            <a:avLst/>
          </a:prstGeom>
          <a:noFill/>
        </p:spPr>
        <p:txBody>
          <a:bodyPr wrap="square" lIns="45720" rIns="45720" tIns="18288" bIns="18288">
            <a:spAutoFit/>
          </a:bodyPr>
          <a:lstStyle/>
          <a:p>
            <a:pPr algn="l"/>
            <a:r>
              <a:rPr sz="1500" b="1">
                <a:solidFill>
                  <a:srgbClr val="6EE7B7"/>
                </a:solidFill>
                <a:latin typeface="Consolas"/>
              </a:rPr>
              <a:t>.claude/agents/</a:t>
            </a:r>
          </a:p>
        </p:txBody>
      </p:sp>
      <p:sp>
        <p:nvSpPr>
          <p:cNvPr id="11" name="TextBox 10"/>
          <p:cNvSpPr txBox="1"/>
          <p:nvPr/>
        </p:nvSpPr>
        <p:spPr>
          <a:xfrm>
            <a:off x="4480560" y="2395728"/>
            <a:ext cx="7132320" cy="457200"/>
          </a:xfrm>
          <a:prstGeom prst="rect">
            <a:avLst/>
          </a:prstGeom>
          <a:noFill/>
        </p:spPr>
        <p:txBody>
          <a:bodyPr wrap="square" lIns="45720" rIns="45720" tIns="18288" bIns="18288">
            <a:spAutoFit/>
          </a:bodyPr>
          <a:lstStyle/>
          <a:p>
            <a:pPr algn="l"/>
            <a:r>
              <a:rPr sz="1500" b="0">
                <a:solidFill>
                  <a:srgbClr val="E8ECF1"/>
                </a:solidFill>
                <a:latin typeface="Segoe UI"/>
              </a:rPr>
              <a:t>12 single-purpose subagents</a:t>
            </a:r>
          </a:p>
        </p:txBody>
      </p:sp>
      <p:sp>
        <p:nvSpPr>
          <p:cNvPr id="12" name="Rounded Rectangle 11"/>
          <p:cNvSpPr/>
          <p:nvPr/>
        </p:nvSpPr>
        <p:spPr>
          <a:xfrm>
            <a:off x="685800" y="3017520"/>
            <a:ext cx="10789920" cy="5943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27248"/>
            <a:ext cx="3474720" cy="457200"/>
          </a:xfrm>
          <a:prstGeom prst="rect">
            <a:avLst/>
          </a:prstGeom>
          <a:noFill/>
        </p:spPr>
        <p:txBody>
          <a:bodyPr wrap="square" lIns="45720" rIns="45720" tIns="18288" bIns="18288">
            <a:spAutoFit/>
          </a:bodyPr>
          <a:lstStyle/>
          <a:p>
            <a:pPr algn="l"/>
            <a:r>
              <a:rPr sz="1500" b="1">
                <a:solidFill>
                  <a:srgbClr val="6EE7B7"/>
                </a:solidFill>
                <a:latin typeface="Consolas"/>
              </a:rPr>
              <a:t>.claude/hooks/</a:t>
            </a:r>
          </a:p>
        </p:txBody>
      </p:sp>
      <p:sp>
        <p:nvSpPr>
          <p:cNvPr id="14" name="TextBox 13"/>
          <p:cNvSpPr txBox="1"/>
          <p:nvPr/>
        </p:nvSpPr>
        <p:spPr>
          <a:xfrm>
            <a:off x="4480560" y="3127248"/>
            <a:ext cx="7132320" cy="457200"/>
          </a:xfrm>
          <a:prstGeom prst="rect">
            <a:avLst/>
          </a:prstGeom>
          <a:noFill/>
        </p:spPr>
        <p:txBody>
          <a:bodyPr wrap="square" lIns="45720" rIns="45720" tIns="18288" bIns="18288">
            <a:spAutoFit/>
          </a:bodyPr>
          <a:lstStyle/>
          <a:p>
            <a:pPr algn="l"/>
            <a:r>
              <a:rPr sz="1500" b="0">
                <a:solidFill>
                  <a:srgbClr val="E8ECF1"/>
                </a:solidFill>
                <a:latin typeface="Segoe UI"/>
              </a:rPr>
              <a:t>lifecycle scripts (logging, secrets scan, test immutability)</a:t>
            </a:r>
          </a:p>
        </p:txBody>
      </p:sp>
      <p:sp>
        <p:nvSpPr>
          <p:cNvPr id="15" name="Rounded Rectangle 14"/>
          <p:cNvSpPr/>
          <p:nvPr/>
        </p:nvSpPr>
        <p:spPr>
          <a:xfrm>
            <a:off x="685800" y="3749039"/>
            <a:ext cx="10789920" cy="5943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58768"/>
            <a:ext cx="3474720" cy="457200"/>
          </a:xfrm>
          <a:prstGeom prst="rect">
            <a:avLst/>
          </a:prstGeom>
          <a:noFill/>
        </p:spPr>
        <p:txBody>
          <a:bodyPr wrap="square" lIns="45720" rIns="45720" tIns="18288" bIns="18288">
            <a:spAutoFit/>
          </a:bodyPr>
          <a:lstStyle/>
          <a:p>
            <a:pPr algn="l"/>
            <a:r>
              <a:rPr sz="1500" b="1">
                <a:solidFill>
                  <a:srgbClr val="6EE7B7"/>
                </a:solidFill>
                <a:latin typeface="Consolas"/>
              </a:rPr>
              <a:t>sessions/&lt;run_id&gt;/</a:t>
            </a:r>
          </a:p>
        </p:txBody>
      </p:sp>
      <p:sp>
        <p:nvSpPr>
          <p:cNvPr id="17" name="TextBox 16"/>
          <p:cNvSpPr txBox="1"/>
          <p:nvPr/>
        </p:nvSpPr>
        <p:spPr>
          <a:xfrm>
            <a:off x="4480560" y="3858768"/>
            <a:ext cx="7132320" cy="457200"/>
          </a:xfrm>
          <a:prstGeom prst="rect">
            <a:avLst/>
          </a:prstGeom>
          <a:noFill/>
        </p:spPr>
        <p:txBody>
          <a:bodyPr wrap="square" lIns="45720" rIns="45720" tIns="18288" bIns="18288">
            <a:spAutoFit/>
          </a:bodyPr>
          <a:lstStyle/>
          <a:p>
            <a:pPr algn="l"/>
            <a:r>
              <a:rPr sz="1500" b="0">
                <a:solidFill>
                  <a:srgbClr val="E8ECF1"/>
                </a:solidFill>
                <a:latin typeface="Segoe UI"/>
              </a:rPr>
              <a:t>self-contained per-run artifacts + checkpoint</a:t>
            </a:r>
          </a:p>
        </p:txBody>
      </p:sp>
      <p:sp>
        <p:nvSpPr>
          <p:cNvPr id="18" name="Rounded Rectangle 17"/>
          <p:cNvSpPr/>
          <p:nvPr/>
        </p:nvSpPr>
        <p:spPr>
          <a:xfrm>
            <a:off x="685800" y="4480559"/>
            <a:ext cx="10789920" cy="5943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90288"/>
            <a:ext cx="3474720" cy="457200"/>
          </a:xfrm>
          <a:prstGeom prst="rect">
            <a:avLst/>
          </a:prstGeom>
          <a:noFill/>
        </p:spPr>
        <p:txBody>
          <a:bodyPr wrap="square" lIns="45720" rIns="45720" tIns="18288" bIns="18288">
            <a:spAutoFit/>
          </a:bodyPr>
          <a:lstStyle/>
          <a:p>
            <a:pPr algn="l"/>
            <a:r>
              <a:rPr sz="1500" b="1">
                <a:solidFill>
                  <a:srgbClr val="6EE7B7"/>
                </a:solidFill>
                <a:latin typeface="Consolas"/>
              </a:rPr>
              <a:t>security/profiles/</a:t>
            </a:r>
          </a:p>
        </p:txBody>
      </p:sp>
      <p:sp>
        <p:nvSpPr>
          <p:cNvPr id="20" name="TextBox 19"/>
          <p:cNvSpPr txBox="1"/>
          <p:nvPr/>
        </p:nvSpPr>
        <p:spPr>
          <a:xfrm>
            <a:off x="4480560" y="4590288"/>
            <a:ext cx="7132320" cy="457200"/>
          </a:xfrm>
          <a:prstGeom prst="rect">
            <a:avLst/>
          </a:prstGeom>
          <a:noFill/>
        </p:spPr>
        <p:txBody>
          <a:bodyPr wrap="square" lIns="45720" rIns="45720" tIns="18288" bIns="18288">
            <a:spAutoFit/>
          </a:bodyPr>
          <a:lstStyle/>
          <a:p>
            <a:pPr algn="l"/>
            <a:r>
              <a:rPr sz="1500" b="0">
                <a:solidFill>
                  <a:srgbClr val="E8ECF1"/>
                </a:solidFill>
                <a:latin typeface="Segoe UI"/>
              </a:rPr>
              <a:t>app-type threat models loaded per run</a:t>
            </a:r>
          </a:p>
        </p:txBody>
      </p:sp>
      <p:sp>
        <p:nvSpPr>
          <p:cNvPr id="21" name="TextBox 20"/>
          <p:cNvSpPr txBox="1"/>
          <p:nvPr/>
        </p:nvSpPr>
        <p:spPr>
          <a:xfrm>
            <a:off x="685800" y="5394960"/>
            <a:ext cx="10789920" cy="365760"/>
          </a:xfrm>
          <a:prstGeom prst="rect">
            <a:avLst/>
          </a:prstGeom>
          <a:noFill/>
        </p:spPr>
        <p:txBody>
          <a:bodyPr wrap="square" lIns="45720" rIns="45720" tIns="18288" bIns="18288">
            <a:spAutoFit/>
          </a:bodyPr>
          <a:lstStyle/>
          <a:p>
            <a:pPr algn="l"/>
            <a:r>
              <a:rPr sz="1600" b="1">
                <a:solidFill>
                  <a:srgbClr val="F5C249"/>
                </a:solidFill>
                <a:latin typeface="Segoe UI"/>
              </a:rPr>
              <a:t>Stack: Bash + Markdown + GitHub Actions.   No runtime.</a:t>
            </a:r>
          </a:p>
        </p:txBody>
      </p:sp>
      <p:sp>
        <p:nvSpPr>
          <p:cNvPr id="22" name="TextBox 21"/>
          <p:cNvSpPr txBox="1"/>
          <p:nvPr/>
        </p:nvSpPr>
        <p:spPr>
          <a:xfrm>
            <a:off x="685800" y="5760720"/>
            <a:ext cx="10789920" cy="365760"/>
          </a:xfrm>
          <a:prstGeom prst="rect">
            <a:avLst/>
          </a:prstGeom>
          <a:noFill/>
        </p:spPr>
        <p:txBody>
          <a:bodyPr wrap="square" lIns="45720" rIns="45720" tIns="18288" bIns="18288">
            <a:spAutoFit/>
          </a:bodyPr>
          <a:lstStyle/>
          <a:p>
            <a:pPr algn="l"/>
            <a:r>
              <a:rPr sz="1400" b="0">
                <a:solidFill>
                  <a:srgbClr val="9AA3AF"/>
                </a:solidFill>
                <a:latin typeface="Segoe UI"/>
              </a:rPr>
              <a:t>It targets whatever stack your project already uses.</a:t>
            </a:r>
          </a:p>
        </p:txBody>
      </p:sp>
      <p:sp>
        <p:nvSpPr>
          <p:cNvPr id="23" name="TextBox 22"/>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24" name="TextBox 23"/>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Three entry points for three vibes</a:t>
            </a:r>
          </a:p>
        </p:txBody>
      </p:sp>
      <p:sp>
        <p:nvSpPr>
          <p:cNvPr id="5" name="Rounded Rectangle 4"/>
          <p:cNvSpPr/>
          <p:nvPr/>
        </p:nvSpPr>
        <p:spPr>
          <a:xfrm>
            <a:off x="457200" y="1645920"/>
            <a:ext cx="3749039" cy="31089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45920"/>
            <a:ext cx="3749039" cy="10972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3383279" cy="548640"/>
          </a:xfrm>
          <a:prstGeom prst="rect">
            <a:avLst/>
          </a:prstGeom>
          <a:noFill/>
        </p:spPr>
        <p:txBody>
          <a:bodyPr wrap="square" lIns="45720" rIns="45720" tIns="18288" bIns="18288">
            <a:spAutoFit/>
          </a:bodyPr>
          <a:lstStyle/>
          <a:p>
            <a:pPr algn="l"/>
            <a:r>
              <a:rPr sz="2000" b="1">
                <a:solidFill>
                  <a:srgbClr val="6EE7B7"/>
                </a:solidFill>
                <a:latin typeface="Consolas"/>
              </a:rPr>
              <a:t>/run [idea]</a:t>
            </a:r>
          </a:p>
        </p:txBody>
      </p:sp>
      <p:sp>
        <p:nvSpPr>
          <p:cNvPr id="8" name="TextBox 7"/>
          <p:cNvSpPr txBox="1"/>
          <p:nvPr/>
        </p:nvSpPr>
        <p:spPr>
          <a:xfrm>
            <a:off x="640080" y="2651760"/>
            <a:ext cx="3383279" cy="365760"/>
          </a:xfrm>
          <a:prstGeom prst="rect">
            <a:avLst/>
          </a:prstGeom>
          <a:noFill/>
        </p:spPr>
        <p:txBody>
          <a:bodyPr wrap="square" lIns="45720" rIns="45720" tIns="18288" bIns="18288">
            <a:spAutoFit/>
          </a:bodyPr>
          <a:lstStyle/>
          <a:p>
            <a:pPr algn="l"/>
            <a:r>
              <a:rPr sz="1100" b="1">
                <a:solidFill>
                  <a:srgbClr val="9AA3AF"/>
                </a:solidFill>
                <a:latin typeface="Segoe UI"/>
              </a:rPr>
              <a:t>WHEN</a:t>
            </a:r>
          </a:p>
        </p:txBody>
      </p:sp>
      <p:sp>
        <p:nvSpPr>
          <p:cNvPr id="9" name="TextBox 8"/>
          <p:cNvSpPr txBox="1"/>
          <p:nvPr/>
        </p:nvSpPr>
        <p:spPr>
          <a:xfrm>
            <a:off x="640080" y="2926080"/>
            <a:ext cx="3383279" cy="731520"/>
          </a:xfrm>
          <a:prstGeom prst="rect">
            <a:avLst/>
          </a:prstGeom>
          <a:noFill/>
        </p:spPr>
        <p:txBody>
          <a:bodyPr wrap="square" lIns="45720" rIns="45720" tIns="18288" bIns="18288">
            <a:spAutoFit/>
          </a:bodyPr>
          <a:lstStyle/>
          <a:p>
            <a:pPr algn="l"/>
            <a:r>
              <a:rPr sz="1600" b="0">
                <a:solidFill>
                  <a:srgbClr val="E8ECF1"/>
                </a:solidFill>
                <a:latin typeface="Segoe UI"/>
              </a:rPr>
              <a:t>New feature, vague brief</a:t>
            </a:r>
          </a:p>
        </p:txBody>
      </p:sp>
      <p:sp>
        <p:nvSpPr>
          <p:cNvPr id="10" name="TextBox 9"/>
          <p:cNvSpPr txBox="1"/>
          <p:nvPr/>
        </p:nvSpPr>
        <p:spPr>
          <a:xfrm>
            <a:off x="640080" y="3657600"/>
            <a:ext cx="3383279" cy="365760"/>
          </a:xfrm>
          <a:prstGeom prst="rect">
            <a:avLst/>
          </a:prstGeom>
          <a:noFill/>
        </p:spPr>
        <p:txBody>
          <a:bodyPr wrap="square" lIns="45720" rIns="45720" tIns="18288" bIns="18288">
            <a:spAutoFit/>
          </a:bodyPr>
          <a:lstStyle/>
          <a:p>
            <a:pPr algn="l"/>
            <a:r>
              <a:rPr sz="1100" b="1">
                <a:solidFill>
                  <a:srgbClr val="9AA3AF"/>
                </a:solidFill>
                <a:latin typeface="Segoe UI"/>
              </a:rPr>
              <a:t>WHAT</a:t>
            </a:r>
          </a:p>
        </p:txBody>
      </p:sp>
      <p:sp>
        <p:nvSpPr>
          <p:cNvPr id="11" name="TextBox 10"/>
          <p:cNvSpPr txBox="1"/>
          <p:nvPr/>
        </p:nvSpPr>
        <p:spPr>
          <a:xfrm>
            <a:off x="640080" y="3931920"/>
            <a:ext cx="3383279" cy="731520"/>
          </a:xfrm>
          <a:prstGeom prst="rect">
            <a:avLst/>
          </a:prstGeom>
          <a:noFill/>
        </p:spPr>
        <p:txBody>
          <a:bodyPr wrap="square" lIns="45720" rIns="45720" tIns="18288" bIns="18288">
            <a:spAutoFit/>
          </a:bodyPr>
          <a:lstStyle/>
          <a:p>
            <a:pPr algn="l"/>
            <a:r>
              <a:rPr sz="1600" b="0">
                <a:solidFill>
                  <a:srgbClr val="E8ECF1"/>
                </a:solidFill>
                <a:latin typeface="Segoe UI"/>
              </a:rPr>
              <a:t>Full pipeline, idea → PR</a:t>
            </a:r>
          </a:p>
        </p:txBody>
      </p:sp>
      <p:sp>
        <p:nvSpPr>
          <p:cNvPr id="12" name="Rounded Rectangle 11"/>
          <p:cNvSpPr/>
          <p:nvPr/>
        </p:nvSpPr>
        <p:spPr>
          <a:xfrm>
            <a:off x="4389120" y="1645920"/>
            <a:ext cx="3749039" cy="31089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645920"/>
            <a:ext cx="3749039" cy="109728"/>
          </a:xfrm>
          <a:prstGeom prst="rect">
            <a:avLst/>
          </a:prstGeom>
          <a:solidFill>
            <a:srgbClr val="F5C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920240"/>
            <a:ext cx="3383279" cy="548640"/>
          </a:xfrm>
          <a:prstGeom prst="rect">
            <a:avLst/>
          </a:prstGeom>
          <a:noFill/>
        </p:spPr>
        <p:txBody>
          <a:bodyPr wrap="square" lIns="45720" rIns="45720" tIns="18288" bIns="18288">
            <a:spAutoFit/>
          </a:bodyPr>
          <a:lstStyle/>
          <a:p>
            <a:pPr algn="l"/>
            <a:r>
              <a:rPr sz="2000" b="1">
                <a:solidFill>
                  <a:srgbClr val="F5C249"/>
                </a:solidFill>
                <a:latin typeface="Consolas"/>
              </a:rPr>
              <a:t>/fast-lane [desc]</a:t>
            </a:r>
          </a:p>
        </p:txBody>
      </p:sp>
      <p:sp>
        <p:nvSpPr>
          <p:cNvPr id="15" name="TextBox 14"/>
          <p:cNvSpPr txBox="1"/>
          <p:nvPr/>
        </p:nvSpPr>
        <p:spPr>
          <a:xfrm>
            <a:off x="4572000" y="2651760"/>
            <a:ext cx="3383279" cy="365760"/>
          </a:xfrm>
          <a:prstGeom prst="rect">
            <a:avLst/>
          </a:prstGeom>
          <a:noFill/>
        </p:spPr>
        <p:txBody>
          <a:bodyPr wrap="square" lIns="45720" rIns="45720" tIns="18288" bIns="18288">
            <a:spAutoFit/>
          </a:bodyPr>
          <a:lstStyle/>
          <a:p>
            <a:pPr algn="l"/>
            <a:r>
              <a:rPr sz="1100" b="1">
                <a:solidFill>
                  <a:srgbClr val="9AA3AF"/>
                </a:solidFill>
                <a:latin typeface="Segoe UI"/>
              </a:rPr>
              <a:t>WHEN</a:t>
            </a:r>
          </a:p>
        </p:txBody>
      </p:sp>
      <p:sp>
        <p:nvSpPr>
          <p:cNvPr id="16" name="TextBox 15"/>
          <p:cNvSpPr txBox="1"/>
          <p:nvPr/>
        </p:nvSpPr>
        <p:spPr>
          <a:xfrm>
            <a:off x="4572000" y="2926080"/>
            <a:ext cx="3383279" cy="731520"/>
          </a:xfrm>
          <a:prstGeom prst="rect">
            <a:avLst/>
          </a:prstGeom>
          <a:noFill/>
        </p:spPr>
        <p:txBody>
          <a:bodyPr wrap="square" lIns="45720" rIns="45720" tIns="18288" bIns="18288">
            <a:spAutoFit/>
          </a:bodyPr>
          <a:lstStyle/>
          <a:p>
            <a:pPr algn="l"/>
            <a:r>
              <a:rPr sz="1600" b="0">
                <a:solidFill>
                  <a:srgbClr val="E8ECF1"/>
                </a:solidFill>
                <a:latin typeface="Segoe UI"/>
              </a:rPr>
              <a:t>You know what to build</a:t>
            </a:r>
          </a:p>
        </p:txBody>
      </p:sp>
      <p:sp>
        <p:nvSpPr>
          <p:cNvPr id="17" name="TextBox 16"/>
          <p:cNvSpPr txBox="1"/>
          <p:nvPr/>
        </p:nvSpPr>
        <p:spPr>
          <a:xfrm>
            <a:off x="4572000" y="3657600"/>
            <a:ext cx="3383279" cy="365760"/>
          </a:xfrm>
          <a:prstGeom prst="rect">
            <a:avLst/>
          </a:prstGeom>
          <a:noFill/>
        </p:spPr>
        <p:txBody>
          <a:bodyPr wrap="square" lIns="45720" rIns="45720" tIns="18288" bIns="18288">
            <a:spAutoFit/>
          </a:bodyPr>
          <a:lstStyle/>
          <a:p>
            <a:pPr algn="l"/>
            <a:r>
              <a:rPr sz="1100" b="1">
                <a:solidFill>
                  <a:srgbClr val="9AA3AF"/>
                </a:solidFill>
                <a:latin typeface="Segoe UI"/>
              </a:rPr>
              <a:t>WHAT</a:t>
            </a:r>
          </a:p>
        </p:txBody>
      </p:sp>
      <p:sp>
        <p:nvSpPr>
          <p:cNvPr id="18" name="TextBox 17"/>
          <p:cNvSpPr txBox="1"/>
          <p:nvPr/>
        </p:nvSpPr>
        <p:spPr>
          <a:xfrm>
            <a:off x="4572000" y="3931920"/>
            <a:ext cx="3383279" cy="731520"/>
          </a:xfrm>
          <a:prstGeom prst="rect">
            <a:avLst/>
          </a:prstGeom>
          <a:noFill/>
        </p:spPr>
        <p:txBody>
          <a:bodyPr wrap="square" lIns="45720" rIns="45720" tIns="18288" bIns="18288">
            <a:spAutoFit/>
          </a:bodyPr>
          <a:lstStyle/>
          <a:p>
            <a:pPr algn="l"/>
            <a:r>
              <a:rPr sz="1600" b="0">
                <a:solidFill>
                  <a:srgbClr val="E8ECF1"/>
                </a:solidFill>
                <a:latin typeface="Segoe UI"/>
              </a:rPr>
              <a:t>Skip the spec phase</a:t>
            </a:r>
          </a:p>
        </p:txBody>
      </p:sp>
      <p:sp>
        <p:nvSpPr>
          <p:cNvPr id="19" name="Rounded Rectangle 18"/>
          <p:cNvSpPr/>
          <p:nvPr/>
        </p:nvSpPr>
        <p:spPr>
          <a:xfrm>
            <a:off x="8321040" y="1645920"/>
            <a:ext cx="3749039" cy="31089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0" y="1645920"/>
            <a:ext cx="3749039" cy="109728"/>
          </a:xfrm>
          <a:prstGeom prst="rect">
            <a:avLst/>
          </a:prstGeom>
          <a:solidFill>
            <a:srgbClr val="F872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19" y="1920240"/>
            <a:ext cx="3383279" cy="548640"/>
          </a:xfrm>
          <a:prstGeom prst="rect">
            <a:avLst/>
          </a:prstGeom>
          <a:noFill/>
        </p:spPr>
        <p:txBody>
          <a:bodyPr wrap="square" lIns="45720" rIns="45720" tIns="18288" bIns="18288">
            <a:spAutoFit/>
          </a:bodyPr>
          <a:lstStyle/>
          <a:p>
            <a:pPr algn="l"/>
            <a:r>
              <a:rPr sz="2000" b="1">
                <a:solidFill>
                  <a:srgbClr val="F87271"/>
                </a:solidFill>
                <a:latin typeface="Consolas"/>
              </a:rPr>
              <a:t>/resume &lt;run_id&gt;</a:t>
            </a:r>
          </a:p>
        </p:txBody>
      </p:sp>
      <p:sp>
        <p:nvSpPr>
          <p:cNvPr id="22" name="TextBox 21"/>
          <p:cNvSpPr txBox="1"/>
          <p:nvPr/>
        </p:nvSpPr>
        <p:spPr>
          <a:xfrm>
            <a:off x="8503919" y="2651760"/>
            <a:ext cx="3383279" cy="365760"/>
          </a:xfrm>
          <a:prstGeom prst="rect">
            <a:avLst/>
          </a:prstGeom>
          <a:noFill/>
        </p:spPr>
        <p:txBody>
          <a:bodyPr wrap="square" lIns="45720" rIns="45720" tIns="18288" bIns="18288">
            <a:spAutoFit/>
          </a:bodyPr>
          <a:lstStyle/>
          <a:p>
            <a:pPr algn="l"/>
            <a:r>
              <a:rPr sz="1100" b="1">
                <a:solidFill>
                  <a:srgbClr val="9AA3AF"/>
                </a:solidFill>
                <a:latin typeface="Segoe UI"/>
              </a:rPr>
              <a:t>WHEN</a:t>
            </a:r>
          </a:p>
        </p:txBody>
      </p:sp>
      <p:sp>
        <p:nvSpPr>
          <p:cNvPr id="23" name="TextBox 22"/>
          <p:cNvSpPr txBox="1"/>
          <p:nvPr/>
        </p:nvSpPr>
        <p:spPr>
          <a:xfrm>
            <a:off x="8503919" y="2926080"/>
            <a:ext cx="3383279" cy="731520"/>
          </a:xfrm>
          <a:prstGeom prst="rect">
            <a:avLst/>
          </a:prstGeom>
          <a:noFill/>
        </p:spPr>
        <p:txBody>
          <a:bodyPr wrap="square" lIns="45720" rIns="45720" tIns="18288" bIns="18288">
            <a:spAutoFit/>
          </a:bodyPr>
          <a:lstStyle/>
          <a:p>
            <a:pPr algn="l"/>
            <a:r>
              <a:rPr sz="1600" b="0">
                <a:solidFill>
                  <a:srgbClr val="E8ECF1"/>
                </a:solidFill>
                <a:latin typeface="Segoe UI"/>
              </a:rPr>
              <a:t>Session crashed</a:t>
            </a:r>
          </a:p>
        </p:txBody>
      </p:sp>
      <p:sp>
        <p:nvSpPr>
          <p:cNvPr id="24" name="TextBox 23"/>
          <p:cNvSpPr txBox="1"/>
          <p:nvPr/>
        </p:nvSpPr>
        <p:spPr>
          <a:xfrm>
            <a:off x="8503919" y="3657600"/>
            <a:ext cx="3383279" cy="365760"/>
          </a:xfrm>
          <a:prstGeom prst="rect">
            <a:avLst/>
          </a:prstGeom>
          <a:noFill/>
        </p:spPr>
        <p:txBody>
          <a:bodyPr wrap="square" lIns="45720" rIns="45720" tIns="18288" bIns="18288">
            <a:spAutoFit/>
          </a:bodyPr>
          <a:lstStyle/>
          <a:p>
            <a:pPr algn="l"/>
            <a:r>
              <a:rPr sz="1100" b="1">
                <a:solidFill>
                  <a:srgbClr val="9AA3AF"/>
                </a:solidFill>
                <a:latin typeface="Segoe UI"/>
              </a:rPr>
              <a:t>WHAT</a:t>
            </a:r>
          </a:p>
        </p:txBody>
      </p:sp>
      <p:sp>
        <p:nvSpPr>
          <p:cNvPr id="25" name="TextBox 24"/>
          <p:cNvSpPr txBox="1"/>
          <p:nvPr/>
        </p:nvSpPr>
        <p:spPr>
          <a:xfrm>
            <a:off x="8503919" y="3931920"/>
            <a:ext cx="3383279" cy="731520"/>
          </a:xfrm>
          <a:prstGeom prst="rect">
            <a:avLst/>
          </a:prstGeom>
          <a:noFill/>
        </p:spPr>
        <p:txBody>
          <a:bodyPr wrap="square" lIns="45720" rIns="45720" tIns="18288" bIns="18288">
            <a:spAutoFit/>
          </a:bodyPr>
          <a:lstStyle/>
          <a:p>
            <a:pPr algn="l"/>
            <a:r>
              <a:rPr sz="1600" b="0">
                <a:solidFill>
                  <a:srgbClr val="E8ECF1"/>
                </a:solidFill>
                <a:latin typeface="Segoe UI"/>
              </a:rPr>
              <a:t>Pick up at last checkpoint</a:t>
            </a:r>
          </a:p>
        </p:txBody>
      </p:sp>
      <p:sp>
        <p:nvSpPr>
          <p:cNvPr id="26" name="Rounded Rectangle 25"/>
          <p:cNvSpPr/>
          <p:nvPr/>
        </p:nvSpPr>
        <p:spPr>
          <a:xfrm>
            <a:off x="685800" y="5120640"/>
            <a:ext cx="10789920" cy="91440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257800"/>
            <a:ext cx="10515600" cy="731520"/>
          </a:xfrm>
          <a:prstGeom prst="rect">
            <a:avLst/>
          </a:prstGeom>
          <a:noFill/>
        </p:spPr>
        <p:txBody>
          <a:bodyPr wrap="square" lIns="45720" rIns="45720" tIns="18288" bIns="18288">
            <a:spAutoFit/>
          </a:bodyPr>
          <a:lstStyle/>
          <a:p>
            <a:pPr algn="l"/>
            <a:r>
              <a:rPr sz="1400" b="0">
                <a:solidFill>
                  <a:srgbClr val="E8ECF1"/>
                </a:solidFill>
                <a:latin typeface="Segoe UI"/>
              </a:rPr>
              <a:t>All three land in the same pipeline. /resume exists because long runs will get interrupted — and starting over is the worst feeling in vibe coding.</a:t>
            </a:r>
          </a:p>
        </p:txBody>
      </p:sp>
      <p:sp>
        <p:nvSpPr>
          <p:cNvPr id="28" name="TextBox 27"/>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29" name="TextBox 28"/>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The pipeline (the whole show)</a:t>
            </a:r>
          </a:p>
        </p:txBody>
      </p:sp>
      <p:sp>
        <p:nvSpPr>
          <p:cNvPr id="5" name="TextBox 4"/>
          <p:cNvSpPr txBox="1"/>
          <p:nvPr/>
        </p:nvSpPr>
        <p:spPr>
          <a:xfrm>
            <a:off x="685800" y="914400"/>
            <a:ext cx="10972800" cy="365760"/>
          </a:xfrm>
          <a:prstGeom prst="rect">
            <a:avLst/>
          </a:prstGeom>
          <a:noFill/>
        </p:spPr>
        <p:txBody>
          <a:bodyPr wrap="square" lIns="45720" rIns="45720" tIns="18288" bIns="18288">
            <a:spAutoFit/>
          </a:bodyPr>
          <a:lstStyle/>
          <a:p>
            <a:pPr algn="l"/>
            <a:r>
              <a:rPr sz="1400" b="0">
                <a:solidFill>
                  <a:srgbClr val="9AA3AF"/>
                </a:solidFill>
                <a:latin typeface="Segoe UI"/>
              </a:rPr>
              <a:t>/run from idea to PR</a:t>
            </a:r>
          </a:p>
        </p:txBody>
      </p:sp>
      <p:sp>
        <p:nvSpPr>
          <p:cNvPr id="6" name="Rounded Rectangle 5"/>
          <p:cNvSpPr/>
          <p:nvPr/>
        </p:nvSpPr>
        <p:spPr>
          <a:xfrm>
            <a:off x="685800" y="1508760"/>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idea-interrogator</a:t>
            </a:r>
          </a:p>
        </p:txBody>
      </p:sp>
      <p:sp>
        <p:nvSpPr>
          <p:cNvPr id="7" name="TextBox 6"/>
          <p:cNvSpPr txBox="1"/>
          <p:nvPr/>
        </p:nvSpPr>
        <p:spPr>
          <a:xfrm>
            <a:off x="4114800" y="1581912"/>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Socratic Q&amp;A until spec is concrete</a:t>
            </a:r>
          </a:p>
        </p:txBody>
      </p:sp>
      <p:sp>
        <p:nvSpPr>
          <p:cNvPr id="8" name="Rectangle 7"/>
          <p:cNvSpPr/>
          <p:nvPr/>
        </p:nvSpPr>
        <p:spPr>
          <a:xfrm>
            <a:off x="1280160" y="1892808"/>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8528"/>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spec-drafter</a:t>
            </a:r>
          </a:p>
        </p:txBody>
      </p:sp>
      <p:sp>
        <p:nvSpPr>
          <p:cNvPr id="10" name="TextBox 9"/>
          <p:cNvSpPr txBox="1"/>
          <p:nvPr/>
        </p:nvSpPr>
        <p:spPr>
          <a:xfrm>
            <a:off x="4114800" y="2011680"/>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 SPEC.md</a:t>
            </a:r>
          </a:p>
        </p:txBody>
      </p:sp>
      <p:sp>
        <p:nvSpPr>
          <p:cNvPr id="11" name="Rectangle 10"/>
          <p:cNvSpPr/>
          <p:nvPr/>
        </p:nvSpPr>
        <p:spPr>
          <a:xfrm>
            <a:off x="1280160" y="2322576"/>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2368296"/>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git-expert</a:t>
            </a:r>
          </a:p>
        </p:txBody>
      </p:sp>
      <p:sp>
        <p:nvSpPr>
          <p:cNvPr id="13" name="TextBox 12"/>
          <p:cNvSpPr txBox="1"/>
          <p:nvPr/>
        </p:nvSpPr>
        <p:spPr>
          <a:xfrm>
            <a:off x="4114800" y="2441448"/>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feat/&lt;slug&gt; branch</a:t>
            </a:r>
          </a:p>
        </p:txBody>
      </p:sp>
      <p:sp>
        <p:nvSpPr>
          <p:cNvPr id="14" name="Rectangle 13"/>
          <p:cNvSpPr/>
          <p:nvPr/>
        </p:nvSpPr>
        <p:spPr>
          <a:xfrm>
            <a:off x="1280160" y="2752344"/>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85800" y="2798063"/>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orchestrator</a:t>
            </a:r>
          </a:p>
        </p:txBody>
      </p:sp>
      <p:sp>
        <p:nvSpPr>
          <p:cNvPr id="16" name="TextBox 15"/>
          <p:cNvSpPr txBox="1"/>
          <p:nvPr/>
        </p:nvSpPr>
        <p:spPr>
          <a:xfrm>
            <a:off x="4114800" y="2871215"/>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 PLAN.md (task decomposition)</a:t>
            </a:r>
          </a:p>
        </p:txBody>
      </p:sp>
      <p:sp>
        <p:nvSpPr>
          <p:cNvPr id="17" name="Rectangle 16"/>
          <p:cNvSpPr/>
          <p:nvPr/>
        </p:nvSpPr>
        <p:spPr>
          <a:xfrm>
            <a:off x="1280160" y="3182111"/>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5800" y="3227831"/>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concern-resolver</a:t>
            </a:r>
          </a:p>
        </p:txBody>
      </p:sp>
      <p:sp>
        <p:nvSpPr>
          <p:cNvPr id="19" name="TextBox 18"/>
          <p:cNvSpPr txBox="1"/>
          <p:nvPr/>
        </p:nvSpPr>
        <p:spPr>
          <a:xfrm>
            <a:off x="4114800" y="3300983"/>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 SECURITY_CONCERNS.md</a:t>
            </a:r>
          </a:p>
        </p:txBody>
      </p:sp>
      <p:sp>
        <p:nvSpPr>
          <p:cNvPr id="20" name="Rectangle 19"/>
          <p:cNvSpPr/>
          <p:nvPr/>
        </p:nvSpPr>
        <p:spPr>
          <a:xfrm>
            <a:off x="1280160" y="3611879"/>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3657599"/>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architect</a:t>
            </a:r>
          </a:p>
        </p:txBody>
      </p:sp>
      <p:sp>
        <p:nvSpPr>
          <p:cNvPr id="22" name="TextBox 21"/>
          <p:cNvSpPr txBox="1"/>
          <p:nvPr/>
        </p:nvSpPr>
        <p:spPr>
          <a:xfrm>
            <a:off x="4114800" y="3730751"/>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 ARCHITECTURE.md</a:t>
            </a:r>
          </a:p>
        </p:txBody>
      </p:sp>
      <p:sp>
        <p:nvSpPr>
          <p:cNvPr id="23" name="Rectangle 22"/>
          <p:cNvSpPr/>
          <p:nvPr/>
        </p:nvSpPr>
        <p:spPr>
          <a:xfrm>
            <a:off x="1280160" y="4041647"/>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5800" y="4087367"/>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implementation-loop</a:t>
            </a:r>
          </a:p>
        </p:txBody>
      </p:sp>
      <p:sp>
        <p:nvSpPr>
          <p:cNvPr id="25" name="TextBox 24"/>
          <p:cNvSpPr txBox="1"/>
          <p:nvPr/>
        </p:nvSpPr>
        <p:spPr>
          <a:xfrm>
            <a:off x="4114800" y="4160519"/>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unit-test-writer → coder → test-runner  (≤ 5x)</a:t>
            </a:r>
          </a:p>
        </p:txBody>
      </p:sp>
      <p:sp>
        <p:nvSpPr>
          <p:cNvPr id="26" name="Rectangle 25"/>
          <p:cNvSpPr/>
          <p:nvPr/>
        </p:nvSpPr>
        <p:spPr>
          <a:xfrm>
            <a:off x="1280160" y="4471415"/>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85800" y="4517135"/>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karen</a:t>
            </a:r>
          </a:p>
        </p:txBody>
      </p:sp>
      <p:sp>
        <p:nvSpPr>
          <p:cNvPr id="28" name="TextBox 27"/>
          <p:cNvSpPr txBox="1"/>
          <p:nvPr/>
        </p:nvSpPr>
        <p:spPr>
          <a:xfrm>
            <a:off x="4114800" y="4590287"/>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PASS / PARTIAL / FAIL audit vs SPEC</a:t>
            </a:r>
          </a:p>
        </p:txBody>
      </p:sp>
      <p:sp>
        <p:nvSpPr>
          <p:cNvPr id="29" name="Rectangle 28"/>
          <p:cNvSpPr/>
          <p:nvPr/>
        </p:nvSpPr>
        <p:spPr>
          <a:xfrm>
            <a:off x="1280160" y="4901183"/>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85800" y="4946903"/>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evaluate-run</a:t>
            </a:r>
          </a:p>
        </p:txBody>
      </p:sp>
      <p:sp>
        <p:nvSpPr>
          <p:cNvPr id="31" name="TextBox 30"/>
          <p:cNvSpPr txBox="1"/>
          <p:nvPr/>
        </p:nvSpPr>
        <p:spPr>
          <a:xfrm>
            <a:off x="4114800" y="5020055"/>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per-agent quality scores</a:t>
            </a:r>
          </a:p>
        </p:txBody>
      </p:sp>
      <p:sp>
        <p:nvSpPr>
          <p:cNvPr id="32" name="Rectangle 31"/>
          <p:cNvSpPr/>
          <p:nvPr/>
        </p:nvSpPr>
        <p:spPr>
          <a:xfrm>
            <a:off x="1280160" y="5330951"/>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85800" y="5376671"/>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security-reviewer</a:t>
            </a:r>
          </a:p>
        </p:txBody>
      </p:sp>
      <p:sp>
        <p:nvSpPr>
          <p:cNvPr id="34" name="TextBox 33"/>
          <p:cNvSpPr txBox="1"/>
          <p:nvPr/>
        </p:nvSpPr>
        <p:spPr>
          <a:xfrm>
            <a:off x="4114800" y="5449823"/>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remediation list</a:t>
            </a:r>
          </a:p>
        </p:txBody>
      </p:sp>
      <p:sp>
        <p:nvSpPr>
          <p:cNvPr id="35" name="Rectangle 34"/>
          <p:cNvSpPr/>
          <p:nvPr/>
        </p:nvSpPr>
        <p:spPr>
          <a:xfrm>
            <a:off x="1280160" y="5760719"/>
            <a:ext cx="36576" cy="64008"/>
          </a:xfrm>
          <a:prstGeom prst="rect">
            <a:avLst/>
          </a:prstGeom>
          <a:solidFill>
            <a:srgbClr val="34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85800" y="5806439"/>
            <a:ext cx="3291840" cy="384048"/>
          </a:xfrm>
          <a:prstGeom prst="roundRect">
            <a:avLst/>
          </a:prstGeom>
          <a:solidFill>
            <a:srgbClr val="181F2A"/>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300" b="1">
                <a:solidFill>
                  <a:srgbClr val="6EE7B7"/>
                </a:solidFill>
                <a:latin typeface="Consolas"/>
              </a:rPr>
              <a:t>git-expert</a:t>
            </a:r>
          </a:p>
        </p:txBody>
      </p:sp>
      <p:sp>
        <p:nvSpPr>
          <p:cNvPr id="37" name="TextBox 36"/>
          <p:cNvSpPr txBox="1"/>
          <p:nvPr/>
        </p:nvSpPr>
        <p:spPr>
          <a:xfrm>
            <a:off x="4114800" y="5879591"/>
            <a:ext cx="7315200" cy="384048"/>
          </a:xfrm>
          <a:prstGeom prst="rect">
            <a:avLst/>
          </a:prstGeom>
          <a:noFill/>
        </p:spPr>
        <p:txBody>
          <a:bodyPr wrap="square" lIns="45720" rIns="45720" tIns="18288" bIns="18288">
            <a:spAutoFit/>
          </a:bodyPr>
          <a:lstStyle/>
          <a:p>
            <a:pPr algn="l"/>
            <a:r>
              <a:rPr sz="1300" b="0">
                <a:solidFill>
                  <a:srgbClr val="E8ECF1"/>
                </a:solidFill>
                <a:latin typeface="Segoe UI"/>
              </a:rPr>
              <a:t>commit → push → PR</a:t>
            </a:r>
          </a:p>
        </p:txBody>
      </p:sp>
      <p:sp>
        <p:nvSpPr>
          <p:cNvPr id="38" name="TextBox 37"/>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39" name="TextBox 38"/>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12 agents, one job each</a:t>
            </a:r>
          </a:p>
        </p:txBody>
      </p:sp>
      <p:graphicFrame>
        <p:nvGraphicFramePr>
          <p:cNvPr id="5" name="Table 4"/>
          <p:cNvGraphicFramePr>
            <a:graphicFrameLocks noGrp="1"/>
          </p:cNvGraphicFramePr>
          <p:nvPr/>
        </p:nvGraphicFramePr>
        <p:xfrm>
          <a:off x="685800" y="1508760"/>
          <a:ext cx="10789919" cy="4297680"/>
        </p:xfrm>
        <a:graphic>
          <a:graphicData uri="http://schemas.openxmlformats.org/drawingml/2006/table">
            <a:tbl>
              <a:tblPr firstRow="1" bandRow="1">
                <a:tableStyleId>{5C22544A-7EE6-4342-B048-85BDC9FD1C3A}</a:tableStyleId>
              </a:tblPr>
              <a:tblGrid>
                <a:gridCol w="3082834"/>
                <a:gridCol w="7707085"/>
              </a:tblGrid>
              <a:tr h="330590">
                <a:tc>
                  <a:txBody>
                    <a:bodyPr wrap="square"/>
                    <a:lstStyle/>
                    <a:p>
                      <a:r>
                        <a:rPr sz="1200" b="1">
                          <a:solidFill>
                            <a:srgbClr val="0F141A"/>
                          </a:solidFill>
                          <a:latin typeface="Segoe UI"/>
                        </a:rPr>
                        <a:t>Agent</a:t>
                      </a:r>
                    </a:p>
                  </a:txBody>
                  <a:tcPr>
                    <a:solidFill>
                      <a:srgbClr val="34A87E"/>
                    </a:solidFill>
                  </a:tcPr>
                </a:tc>
                <a:tc>
                  <a:txBody>
                    <a:bodyPr wrap="square"/>
                    <a:lstStyle/>
                    <a:p>
                      <a:r>
                        <a:rPr sz="1200" b="1">
                          <a:solidFill>
                            <a:srgbClr val="0F141A"/>
                          </a:solidFill>
                          <a:latin typeface="Segoe UI"/>
                        </a:rPr>
                        <a:t>Role</a:t>
                      </a:r>
                    </a:p>
                  </a:txBody>
                  <a:tcPr>
                    <a:solidFill>
                      <a:srgbClr val="34A87E"/>
                    </a:solidFill>
                  </a:tcPr>
                </a:tc>
              </a:tr>
              <a:tr h="330590">
                <a:tc>
                  <a:txBody>
                    <a:bodyPr wrap="square"/>
                    <a:lstStyle/>
                    <a:p>
                      <a:r>
                        <a:rPr sz="1200" b="0">
                          <a:solidFill>
                            <a:srgbClr val="E8ECF1"/>
                          </a:solidFill>
                          <a:latin typeface="Segoe UI"/>
                        </a:rPr>
                        <a:t>orchestrator</a:t>
                      </a:r>
                    </a:p>
                  </a:txBody>
                  <a:tcPr>
                    <a:solidFill>
                      <a:srgbClr val="181F2A"/>
                    </a:solidFill>
                  </a:tcPr>
                </a:tc>
                <a:tc>
                  <a:txBody>
                    <a:bodyPr wrap="square"/>
                    <a:lstStyle/>
                    <a:p>
                      <a:r>
                        <a:rPr sz="1200" b="0">
                          <a:solidFill>
                            <a:srgbClr val="E8ECF1"/>
                          </a:solidFill>
                          <a:latin typeface="Segoe UI"/>
                        </a:rPr>
                        <a:t>Decompose spec into tasks</a:t>
                      </a:r>
                    </a:p>
                  </a:txBody>
                  <a:tcPr>
                    <a:solidFill>
                      <a:srgbClr val="181F2A"/>
                    </a:solidFill>
                  </a:tcPr>
                </a:tc>
              </a:tr>
              <a:tr h="330590">
                <a:tc>
                  <a:txBody>
                    <a:bodyPr wrap="square"/>
                    <a:lstStyle/>
                    <a:p>
                      <a:r>
                        <a:rPr sz="1200" b="0">
                          <a:solidFill>
                            <a:srgbClr val="E8ECF1"/>
                          </a:solidFill>
                          <a:latin typeface="Segoe UI"/>
                        </a:rPr>
                        <a:t>coder</a:t>
                      </a:r>
                    </a:p>
                  </a:txBody>
                  <a:tcPr>
                    <a:solidFill>
                      <a:srgbClr val="0F141A"/>
                    </a:solidFill>
                  </a:tcPr>
                </a:tc>
                <a:tc>
                  <a:txBody>
                    <a:bodyPr wrap="square"/>
                    <a:lstStyle/>
                    <a:p>
                      <a:r>
                        <a:rPr sz="1200" b="0">
                          <a:solidFill>
                            <a:srgbClr val="E8ECF1"/>
                          </a:solidFill>
                          <a:latin typeface="Segoe UI"/>
                        </a:rPr>
                        <a:t>Implement one task</a:t>
                      </a:r>
                    </a:p>
                  </a:txBody>
                  <a:tcPr>
                    <a:solidFill>
                      <a:srgbClr val="0F141A"/>
                    </a:solidFill>
                  </a:tcPr>
                </a:tc>
              </a:tr>
              <a:tr h="330590">
                <a:tc>
                  <a:txBody>
                    <a:bodyPr wrap="square"/>
                    <a:lstStyle/>
                    <a:p>
                      <a:r>
                        <a:rPr sz="1200" b="0">
                          <a:solidFill>
                            <a:srgbClr val="E8ECF1"/>
                          </a:solidFill>
                          <a:latin typeface="Segoe UI"/>
                        </a:rPr>
                        <a:t>karen</a:t>
                      </a:r>
                    </a:p>
                  </a:txBody>
                  <a:tcPr>
                    <a:solidFill>
                      <a:srgbClr val="181F2A"/>
                    </a:solidFill>
                  </a:tcPr>
                </a:tc>
                <a:tc>
                  <a:txBody>
                    <a:bodyPr wrap="square"/>
                    <a:lstStyle/>
                    <a:p>
                      <a:r>
                        <a:rPr sz="1200" b="0">
                          <a:solidFill>
                            <a:srgbClr val="E8ECF1"/>
                          </a:solidFill>
                          <a:latin typeface="Segoe UI"/>
                        </a:rPr>
                        <a:t>Audit work against spec</a:t>
                      </a:r>
                    </a:p>
                  </a:txBody>
                  <a:tcPr>
                    <a:solidFill>
                      <a:srgbClr val="181F2A"/>
                    </a:solidFill>
                  </a:tcPr>
                </a:tc>
              </a:tr>
              <a:tr h="330590">
                <a:tc>
                  <a:txBody>
                    <a:bodyPr wrap="square"/>
                    <a:lstStyle/>
                    <a:p>
                      <a:r>
                        <a:rPr sz="1200" b="0">
                          <a:solidFill>
                            <a:srgbClr val="E8ECF1"/>
                          </a:solidFill>
                          <a:latin typeface="Segoe UI"/>
                        </a:rPr>
                        <a:t>architect</a:t>
                      </a:r>
                    </a:p>
                  </a:txBody>
                  <a:tcPr>
                    <a:solidFill>
                      <a:srgbClr val="0F141A"/>
                    </a:solidFill>
                  </a:tcPr>
                </a:tc>
                <a:tc>
                  <a:txBody>
                    <a:bodyPr wrap="square"/>
                    <a:lstStyle/>
                    <a:p>
                      <a:r>
                        <a:rPr sz="1200" b="0">
                          <a:solidFill>
                            <a:srgbClr val="E8ECF1"/>
                          </a:solidFill>
                          <a:latin typeface="Segoe UI"/>
                        </a:rPr>
                        <a:t>Draft / update architecture docs</a:t>
                      </a:r>
                    </a:p>
                  </a:txBody>
                  <a:tcPr>
                    <a:solidFill>
                      <a:srgbClr val="0F141A"/>
                    </a:solidFill>
                  </a:tcPr>
                </a:tc>
              </a:tr>
              <a:tr h="330590">
                <a:tc>
                  <a:txBody>
                    <a:bodyPr wrap="square"/>
                    <a:lstStyle/>
                    <a:p>
                      <a:r>
                        <a:rPr sz="1200" b="0">
                          <a:solidFill>
                            <a:srgbClr val="E8ECF1"/>
                          </a:solidFill>
                          <a:latin typeface="Segoe UI"/>
                        </a:rPr>
                        <a:t>spec-drafter</a:t>
                      </a:r>
                    </a:p>
                  </a:txBody>
                  <a:tcPr>
                    <a:solidFill>
                      <a:srgbClr val="181F2A"/>
                    </a:solidFill>
                  </a:tcPr>
                </a:tc>
                <a:tc>
                  <a:txBody>
                    <a:bodyPr wrap="square"/>
                    <a:lstStyle/>
                    <a:p>
                      <a:r>
                        <a:rPr sz="1200" b="0">
                          <a:solidFill>
                            <a:srgbClr val="E8ECF1"/>
                          </a:solidFill>
                          <a:latin typeface="Segoe UI"/>
                        </a:rPr>
                        <a:t>Turn interrogation into SPEC.md</a:t>
                      </a:r>
                    </a:p>
                  </a:txBody>
                  <a:tcPr>
                    <a:solidFill>
                      <a:srgbClr val="181F2A"/>
                    </a:solidFill>
                  </a:tcPr>
                </a:tc>
              </a:tr>
              <a:tr h="330590">
                <a:tc>
                  <a:txBody>
                    <a:bodyPr wrap="square"/>
                    <a:lstStyle/>
                    <a:p>
                      <a:r>
                        <a:rPr sz="1200" b="0">
                          <a:solidFill>
                            <a:srgbClr val="E8ECF1"/>
                          </a:solidFill>
                          <a:latin typeface="Segoe UI"/>
                        </a:rPr>
                        <a:t>concern-resolver</a:t>
                      </a:r>
                    </a:p>
                  </a:txBody>
                  <a:tcPr>
                    <a:solidFill>
                      <a:srgbClr val="0F141A"/>
                    </a:solidFill>
                  </a:tcPr>
                </a:tc>
                <a:tc>
                  <a:txBody>
                    <a:bodyPr wrap="square"/>
                    <a:lstStyle/>
                    <a:p>
                      <a:r>
                        <a:rPr sz="1200" b="0">
                          <a:solidFill>
                            <a:srgbClr val="E8ECF1"/>
                          </a:solidFill>
                          <a:latin typeface="Segoe UI"/>
                        </a:rPr>
                        <a:t>Surface security concerns from triggers</a:t>
                      </a:r>
                    </a:p>
                  </a:txBody>
                  <a:tcPr>
                    <a:solidFill>
                      <a:srgbClr val="0F141A"/>
                    </a:solidFill>
                  </a:tcPr>
                </a:tc>
              </a:tr>
              <a:tr h="330590">
                <a:tc>
                  <a:txBody>
                    <a:bodyPr wrap="square"/>
                    <a:lstStyle/>
                    <a:p>
                      <a:r>
                        <a:rPr sz="1200" b="0">
                          <a:solidFill>
                            <a:srgbClr val="E8ECF1"/>
                          </a:solidFill>
                          <a:latin typeface="Segoe UI"/>
                        </a:rPr>
                        <a:t>security-reviewer</a:t>
                      </a:r>
                    </a:p>
                  </a:txBody>
                  <a:tcPr>
                    <a:solidFill>
                      <a:srgbClr val="181F2A"/>
                    </a:solidFill>
                  </a:tcPr>
                </a:tc>
                <a:tc>
                  <a:txBody>
                    <a:bodyPr wrap="square"/>
                    <a:lstStyle/>
                    <a:p>
                      <a:r>
                        <a:rPr sz="1200" b="0">
                          <a:solidFill>
                            <a:srgbClr val="E8ECF1"/>
                          </a:solidFill>
                          <a:latin typeface="Segoe UI"/>
                        </a:rPr>
                        <a:t>Final security pass on the diff</a:t>
                      </a:r>
                    </a:p>
                  </a:txBody>
                  <a:tcPr>
                    <a:solidFill>
                      <a:srgbClr val="181F2A"/>
                    </a:solidFill>
                  </a:tcPr>
                </a:tc>
              </a:tr>
              <a:tr h="330590">
                <a:tc>
                  <a:txBody>
                    <a:bodyPr wrap="square"/>
                    <a:lstStyle/>
                    <a:p>
                      <a:r>
                        <a:rPr sz="1200" b="0">
                          <a:solidFill>
                            <a:srgbClr val="E8ECF1"/>
                          </a:solidFill>
                          <a:latin typeface="Segoe UI"/>
                        </a:rPr>
                        <a:t>git-expert</a:t>
                      </a:r>
                    </a:p>
                  </a:txBody>
                  <a:tcPr>
                    <a:solidFill>
                      <a:srgbClr val="0F141A"/>
                    </a:solidFill>
                  </a:tcPr>
                </a:tc>
                <a:tc>
                  <a:txBody>
                    <a:bodyPr wrap="square"/>
                    <a:lstStyle/>
                    <a:p>
                      <a:r>
                        <a:rPr sz="1200" b="0">
                          <a:solidFill>
                            <a:srgbClr val="E8ECF1"/>
                          </a:solidFill>
                          <a:latin typeface="Segoe UI"/>
                        </a:rPr>
                        <a:t>Branch, commit, push, PR</a:t>
                      </a:r>
                    </a:p>
                  </a:txBody>
                  <a:tcPr>
                    <a:solidFill>
                      <a:srgbClr val="0F141A"/>
                    </a:solidFill>
                  </a:tcPr>
                </a:tc>
              </a:tr>
              <a:tr h="330590">
                <a:tc>
                  <a:txBody>
                    <a:bodyPr wrap="square"/>
                    <a:lstStyle/>
                    <a:p>
                      <a:r>
                        <a:rPr sz="1200" b="0">
                          <a:solidFill>
                            <a:srgbClr val="E8ECF1"/>
                          </a:solidFill>
                          <a:latin typeface="Segoe UI"/>
                        </a:rPr>
                        <a:t>test-runner</a:t>
                      </a:r>
                    </a:p>
                  </a:txBody>
                  <a:tcPr>
                    <a:solidFill>
                      <a:srgbClr val="181F2A"/>
                    </a:solidFill>
                  </a:tcPr>
                </a:tc>
                <a:tc>
                  <a:txBody>
                    <a:bodyPr wrap="square"/>
                    <a:lstStyle/>
                    <a:p>
                      <a:r>
                        <a:rPr sz="1200" b="0">
                          <a:solidFill>
                            <a:srgbClr val="E8ECF1"/>
                          </a:solidFill>
                          <a:latin typeface="Segoe UI"/>
                        </a:rPr>
                        <a:t>Run suite, report pass/fail/blocked</a:t>
                      </a:r>
                    </a:p>
                  </a:txBody>
                  <a:tcPr>
                    <a:solidFill>
                      <a:srgbClr val="181F2A"/>
                    </a:solidFill>
                  </a:tcPr>
                </a:tc>
              </a:tr>
              <a:tr h="330590">
                <a:tc>
                  <a:txBody>
                    <a:bodyPr wrap="square"/>
                    <a:lstStyle/>
                    <a:p>
                      <a:r>
                        <a:rPr sz="1200" b="0">
                          <a:solidFill>
                            <a:srgbClr val="E8ECF1"/>
                          </a:solidFill>
                          <a:latin typeface="Segoe UI"/>
                        </a:rPr>
                        <a:t>unit-test-writer</a:t>
                      </a:r>
                    </a:p>
                  </a:txBody>
                  <a:tcPr>
                    <a:solidFill>
                      <a:srgbClr val="0F141A"/>
                    </a:solidFill>
                  </a:tcPr>
                </a:tc>
                <a:tc>
                  <a:txBody>
                    <a:bodyPr wrap="square"/>
                    <a:lstStyle/>
                    <a:p>
                      <a:r>
                        <a:rPr sz="1200" b="0">
                          <a:solidFill>
                            <a:srgbClr val="E8ECF1"/>
                          </a:solidFill>
                          <a:latin typeface="Segoe UI"/>
                        </a:rPr>
                        <a:t>Generate tests to ≥90% coverage</a:t>
                      </a:r>
                    </a:p>
                  </a:txBody>
                  <a:tcPr>
                    <a:solidFill>
                      <a:srgbClr val="0F141A"/>
                    </a:solidFill>
                  </a:tcPr>
                </a:tc>
              </a:tr>
              <a:tr h="330590">
                <a:tc>
                  <a:txBody>
                    <a:bodyPr wrap="square"/>
                    <a:lstStyle/>
                    <a:p>
                      <a:r>
                        <a:rPr sz="1200" b="0">
                          <a:solidFill>
                            <a:srgbClr val="E8ECF1"/>
                          </a:solidFill>
                          <a:latin typeface="Segoe UI"/>
                        </a:rPr>
                        <a:t>session-keeper</a:t>
                      </a:r>
                    </a:p>
                  </a:txBody>
                  <a:tcPr>
                    <a:solidFill>
                      <a:srgbClr val="181F2A"/>
                    </a:solidFill>
                  </a:tcPr>
                </a:tc>
                <a:tc>
                  <a:txBody>
                    <a:bodyPr wrap="square"/>
                    <a:lstStyle/>
                    <a:p>
                      <a:r>
                        <a:rPr sz="1200" b="0">
                          <a:solidFill>
                            <a:srgbClr val="E8ECF1"/>
                          </a:solidFill>
                          <a:latin typeface="Segoe UI"/>
                        </a:rPr>
                        <a:t>Maintain PROGRESS_TRACKER.md</a:t>
                      </a:r>
                    </a:p>
                  </a:txBody>
                  <a:tcPr>
                    <a:solidFill>
                      <a:srgbClr val="181F2A"/>
                    </a:solidFill>
                  </a:tcPr>
                </a:tc>
              </a:tr>
              <a:tr h="330600">
                <a:tc>
                  <a:txBody>
                    <a:bodyPr wrap="square"/>
                    <a:lstStyle/>
                    <a:p>
                      <a:r>
                        <a:rPr sz="1200" b="0">
                          <a:solidFill>
                            <a:srgbClr val="E8ECF1"/>
                          </a:solidFill>
                          <a:latin typeface="Segoe UI"/>
                        </a:rPr>
                        <a:t>agent-evaluator</a:t>
                      </a:r>
                    </a:p>
                  </a:txBody>
                  <a:tcPr>
                    <a:solidFill>
                      <a:srgbClr val="0F141A"/>
                    </a:solidFill>
                  </a:tcPr>
                </a:tc>
                <a:tc>
                  <a:txBody>
                    <a:bodyPr wrap="square"/>
                    <a:lstStyle/>
                    <a:p>
                      <a:r>
                        <a:rPr sz="1200" b="0">
                          <a:solidFill>
                            <a:srgbClr val="E8ECF1"/>
                          </a:solidFill>
                          <a:latin typeface="Segoe UI"/>
                        </a:rPr>
                        <a:t>Score agents against criteria.json</a:t>
                      </a:r>
                    </a:p>
                  </a:txBody>
                  <a:tcPr>
                    <a:solidFill>
                      <a:srgbClr val="0F141A"/>
                    </a:solidFill>
                  </a:tcPr>
                </a:tc>
              </a:tr>
            </a:tbl>
          </a:graphicData>
        </a:graphic>
      </p:graphicFrame>
      <p:sp>
        <p:nvSpPr>
          <p:cNvPr id="6" name="Rounded Rectangle 5"/>
          <p:cNvSpPr/>
          <p:nvPr/>
        </p:nvSpPr>
        <p:spPr>
          <a:xfrm>
            <a:off x="685800" y="5486400"/>
            <a:ext cx="10789920" cy="64008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577840"/>
            <a:ext cx="10515600" cy="457200"/>
          </a:xfrm>
          <a:prstGeom prst="rect">
            <a:avLst/>
          </a:prstGeom>
          <a:noFill/>
        </p:spPr>
        <p:txBody>
          <a:bodyPr wrap="square">
            <a:spAutoFit/>
          </a:bodyPr>
          <a:lstStyle/>
          <a:p>
            <a:r>
              <a:rPr sz="1600" b="1" i="0">
                <a:solidFill>
                  <a:srgbClr val="6EE7B7"/>
                </a:solidFill>
                <a:latin typeface="Segoe UI"/>
              </a:rPr>
              <a:t>Rule:</a:t>
            </a:r>
            <a:r>
              <a:rPr sz="1600" b="0" i="0">
                <a:solidFill>
                  <a:srgbClr val="E8ECF1"/>
                </a:solidFill>
                <a:latin typeface="Segoe UI"/>
              </a:rPr>
              <a:t> if an agent's description needs the word </a:t>
            </a:r>
            <a:r>
              <a:rPr sz="1600" b="0" i="1">
                <a:solidFill>
                  <a:srgbClr val="F5C249"/>
                </a:solidFill>
                <a:latin typeface="Segoe UI"/>
              </a:rPr>
              <a:t>"and,"</a:t>
            </a:r>
            <a:r>
              <a:rPr sz="1600" b="0" i="0">
                <a:solidFill>
                  <a:srgbClr val="E8ECF1"/>
                </a:solidFill>
                <a:latin typeface="Segoe UI"/>
              </a:rPr>
              <a:t> split it.</a:t>
            </a:r>
          </a:p>
        </p:txBody>
      </p:sp>
      <p:sp>
        <p:nvSpPr>
          <p:cNvPr id="8" name="TextBox 7"/>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9" name="TextBox 8"/>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Always-on safety rails (hooks)</a:t>
            </a:r>
          </a:p>
        </p:txBody>
      </p:sp>
      <p:graphicFrame>
        <p:nvGraphicFramePr>
          <p:cNvPr id="5" name="Table 4"/>
          <p:cNvGraphicFramePr>
            <a:graphicFrameLocks noGrp="1"/>
          </p:cNvGraphicFramePr>
          <p:nvPr/>
        </p:nvGraphicFramePr>
        <p:xfrm>
          <a:off x="457200" y="1508760"/>
          <a:ext cx="11247118" cy="3200400"/>
        </p:xfrm>
        <a:graphic>
          <a:graphicData uri="http://schemas.openxmlformats.org/drawingml/2006/table">
            <a:tbl>
              <a:tblPr firstRow="1" bandRow="1">
                <a:tableStyleId>{5C22544A-7EE6-4342-B048-85BDC9FD1C3A}</a:tableStyleId>
              </a:tblPr>
              <a:tblGrid>
                <a:gridCol w="3213462"/>
                <a:gridCol w="2677885"/>
                <a:gridCol w="5355771"/>
              </a:tblGrid>
              <a:tr h="533400">
                <a:tc>
                  <a:txBody>
                    <a:bodyPr wrap="square"/>
                    <a:lstStyle/>
                    <a:p>
                      <a:r>
                        <a:rPr sz="1300" b="1">
                          <a:solidFill>
                            <a:srgbClr val="0F141A"/>
                          </a:solidFill>
                          <a:latin typeface="Segoe UI"/>
                        </a:rPr>
                        <a:t>Hook</a:t>
                      </a:r>
                    </a:p>
                  </a:txBody>
                  <a:tcPr>
                    <a:solidFill>
                      <a:srgbClr val="34A87E"/>
                    </a:solidFill>
                  </a:tcPr>
                </a:tc>
                <a:tc>
                  <a:txBody>
                    <a:bodyPr wrap="square"/>
                    <a:lstStyle/>
                    <a:p>
                      <a:r>
                        <a:rPr sz="1300" b="1">
                          <a:solidFill>
                            <a:srgbClr val="0F141A"/>
                          </a:solidFill>
                          <a:latin typeface="Segoe UI"/>
                        </a:rPr>
                        <a:t>Fires on</a:t>
                      </a:r>
                    </a:p>
                  </a:txBody>
                  <a:tcPr>
                    <a:solidFill>
                      <a:srgbClr val="34A87E"/>
                    </a:solidFill>
                  </a:tcPr>
                </a:tc>
                <a:tc>
                  <a:txBody>
                    <a:bodyPr wrap="square"/>
                    <a:lstStyle/>
                    <a:p>
                      <a:r>
                        <a:rPr sz="1300" b="1">
                          <a:solidFill>
                            <a:srgbClr val="0F141A"/>
                          </a:solidFill>
                          <a:latin typeface="Segoe UI"/>
                        </a:rPr>
                        <a:t>What it guarantees</a:t>
                      </a:r>
                    </a:p>
                  </a:txBody>
                  <a:tcPr>
                    <a:solidFill>
                      <a:srgbClr val="34A87E"/>
                    </a:solidFill>
                  </a:tcPr>
                </a:tc>
              </a:tr>
              <a:tr h="533400">
                <a:tc>
                  <a:txBody>
                    <a:bodyPr wrap="square"/>
                    <a:lstStyle/>
                    <a:p>
                      <a:r>
                        <a:rPr sz="1300" b="0">
                          <a:solidFill>
                            <a:srgbClr val="E8ECF1"/>
                          </a:solidFill>
                          <a:latin typeface="Segoe UI"/>
                        </a:rPr>
                        <a:t>log_tool_call.sh</a:t>
                      </a:r>
                    </a:p>
                  </a:txBody>
                  <a:tcPr>
                    <a:solidFill>
                      <a:srgbClr val="181F2A"/>
                    </a:solidFill>
                  </a:tcPr>
                </a:tc>
                <a:tc>
                  <a:txBody>
                    <a:bodyPr wrap="square"/>
                    <a:lstStyle/>
                    <a:p>
                      <a:r>
                        <a:rPr sz="1300" b="0">
                          <a:solidFill>
                            <a:srgbClr val="E8ECF1"/>
                          </a:solidFill>
                          <a:latin typeface="Segoe UI"/>
                        </a:rPr>
                        <a:t>Every tool call</a:t>
                      </a:r>
                    </a:p>
                  </a:txBody>
                  <a:tcPr>
                    <a:solidFill>
                      <a:srgbClr val="181F2A"/>
                    </a:solidFill>
                  </a:tcPr>
                </a:tc>
                <a:tc>
                  <a:txBody>
                    <a:bodyPr wrap="square"/>
                    <a:lstStyle/>
                    <a:p>
                      <a:r>
                        <a:rPr sz="1300" b="0">
                          <a:solidFill>
                            <a:srgbClr val="E8ECF1"/>
                          </a:solidFill>
                          <a:latin typeface="Segoe UI"/>
                        </a:rPr>
                        <a:t>JSONL audit trail of every action</a:t>
                      </a:r>
                    </a:p>
                  </a:txBody>
                  <a:tcPr>
                    <a:solidFill>
                      <a:srgbClr val="181F2A"/>
                    </a:solidFill>
                  </a:tcPr>
                </a:tc>
              </a:tr>
              <a:tr h="533400">
                <a:tc>
                  <a:txBody>
                    <a:bodyPr wrap="square"/>
                    <a:lstStyle/>
                    <a:p>
                      <a:r>
                        <a:rPr sz="1300" b="0">
                          <a:solidFill>
                            <a:srgbClr val="E8ECF1"/>
                          </a:solidFill>
                          <a:latin typeface="Segoe UI"/>
                        </a:rPr>
                        <a:t>secrets-postwrite.sh</a:t>
                      </a:r>
                    </a:p>
                  </a:txBody>
                  <a:tcPr>
                    <a:solidFill>
                      <a:srgbClr val="0F141A"/>
                    </a:solidFill>
                  </a:tcPr>
                </a:tc>
                <a:tc>
                  <a:txBody>
                    <a:bodyPr wrap="square"/>
                    <a:lstStyle/>
                    <a:p>
                      <a:r>
                        <a:rPr sz="1300" b="0">
                          <a:solidFill>
                            <a:srgbClr val="E8ECF1"/>
                          </a:solidFill>
                          <a:latin typeface="Segoe UI"/>
                        </a:rPr>
                        <a:t>Write / Edit</a:t>
                      </a:r>
                    </a:p>
                  </a:txBody>
                  <a:tcPr>
                    <a:solidFill>
                      <a:srgbClr val="0F141A"/>
                    </a:solidFill>
                  </a:tcPr>
                </a:tc>
                <a:tc>
                  <a:txBody>
                    <a:bodyPr wrap="square"/>
                    <a:lstStyle/>
                    <a:p>
                      <a:r>
                        <a:rPr sz="1300" b="0">
                          <a:solidFill>
                            <a:srgbClr val="E8ECF1"/>
                          </a:solidFill>
                          <a:latin typeface="Segoe UI"/>
                        </a:rPr>
                        <a:t>Scans for leaked credentials</a:t>
                      </a:r>
                    </a:p>
                  </a:txBody>
                  <a:tcPr>
                    <a:solidFill>
                      <a:srgbClr val="0F141A"/>
                    </a:solidFill>
                  </a:tcPr>
                </a:tc>
              </a:tr>
              <a:tr h="533400">
                <a:tc>
                  <a:txBody>
                    <a:bodyPr wrap="square"/>
                    <a:lstStyle/>
                    <a:p>
                      <a:r>
                        <a:rPr sz="1300" b="0">
                          <a:solidFill>
                            <a:srgbClr val="E8ECF1"/>
                          </a:solidFill>
                          <a:latin typeface="Segoe UI"/>
                        </a:rPr>
                        <a:t>test-immutability.sh</a:t>
                      </a:r>
                    </a:p>
                  </a:txBody>
                  <a:tcPr>
                    <a:solidFill>
                      <a:srgbClr val="181F2A"/>
                    </a:solidFill>
                  </a:tcPr>
                </a:tc>
                <a:tc>
                  <a:txBody>
                    <a:bodyPr wrap="square"/>
                    <a:lstStyle/>
                    <a:p>
                      <a:r>
                        <a:rPr sz="1300" b="0">
                          <a:solidFill>
                            <a:srgbClr val="E8ECF1"/>
                          </a:solidFill>
                          <a:latin typeface="Segoe UI"/>
                        </a:rPr>
                        <a:t>Edit / Write</a:t>
                      </a:r>
                    </a:p>
                  </a:txBody>
                  <a:tcPr>
                    <a:solidFill>
                      <a:srgbClr val="181F2A"/>
                    </a:solidFill>
                  </a:tcPr>
                </a:tc>
                <a:tc>
                  <a:txBody>
                    <a:bodyPr wrap="square"/>
                    <a:lstStyle/>
                    <a:p>
                      <a:r>
                        <a:rPr sz="1300" b="0">
                          <a:solidFill>
                            <a:srgbClr val="E8ECF1"/>
                          </a:solidFill>
                          <a:latin typeface="Segoe UI"/>
                        </a:rPr>
                        <a:t>BLOCKS edits to existing tests</a:t>
                      </a:r>
                    </a:p>
                  </a:txBody>
                  <a:tcPr>
                    <a:solidFill>
                      <a:srgbClr val="181F2A"/>
                    </a:solidFill>
                  </a:tcPr>
                </a:tc>
              </a:tr>
              <a:tr h="533400">
                <a:tc>
                  <a:txBody>
                    <a:bodyPr wrap="square"/>
                    <a:lstStyle/>
                    <a:p>
                      <a:r>
                        <a:rPr sz="1300" b="0">
                          <a:solidFill>
                            <a:srgbClr val="E8ECF1"/>
                          </a:solidFill>
                          <a:latin typeface="Segoe UI"/>
                        </a:rPr>
                        <a:t>git-commit-scope.sh</a:t>
                      </a:r>
                    </a:p>
                  </a:txBody>
                  <a:tcPr>
                    <a:solidFill>
                      <a:srgbClr val="0F141A"/>
                    </a:solidFill>
                  </a:tcPr>
                </a:tc>
                <a:tc>
                  <a:txBody>
                    <a:bodyPr wrap="square"/>
                    <a:lstStyle/>
                    <a:p>
                      <a:r>
                        <a:rPr sz="1300" b="0">
                          <a:solidFill>
                            <a:srgbClr val="E8ECF1"/>
                          </a:solidFill>
                          <a:latin typeface="Segoe UI"/>
                        </a:rPr>
                        <a:t>git commit</a:t>
                      </a:r>
                    </a:p>
                  </a:txBody>
                  <a:tcPr>
                    <a:solidFill>
                      <a:srgbClr val="0F141A"/>
                    </a:solidFill>
                  </a:tcPr>
                </a:tc>
                <a:tc>
                  <a:txBody>
                    <a:bodyPr wrap="square"/>
                    <a:lstStyle/>
                    <a:p>
                      <a:r>
                        <a:rPr sz="1300" b="0">
                          <a:solidFill>
                            <a:srgbClr val="E8ECF1"/>
                          </a:solidFill>
                          <a:latin typeface="Segoe UI"/>
                        </a:rPr>
                        <a:t>Injects git diff --stat first</a:t>
                      </a:r>
                    </a:p>
                  </a:txBody>
                  <a:tcPr>
                    <a:solidFill>
                      <a:srgbClr val="0F141A"/>
                    </a:solidFill>
                  </a:tcPr>
                </a:tc>
              </a:tr>
              <a:tr h="533400">
                <a:tc>
                  <a:txBody>
                    <a:bodyPr wrap="square"/>
                    <a:lstStyle/>
                    <a:p>
                      <a:r>
                        <a:rPr sz="1300" b="0">
                          <a:solidFill>
                            <a:srgbClr val="E8ECF1"/>
                          </a:solidFill>
                          <a:latin typeface="Segoe UI"/>
                        </a:rPr>
                        <a:t>session-autocommit.sh</a:t>
                      </a:r>
                    </a:p>
                  </a:txBody>
                  <a:tcPr>
                    <a:solidFill>
                      <a:srgbClr val="181F2A"/>
                    </a:solidFill>
                  </a:tcPr>
                </a:tc>
                <a:tc>
                  <a:txBody>
                    <a:bodyPr wrap="square"/>
                    <a:lstStyle/>
                    <a:p>
                      <a:r>
                        <a:rPr sz="1300" b="0">
                          <a:solidFill>
                            <a:srgbClr val="E8ECF1"/>
                          </a:solidFill>
                          <a:latin typeface="Segoe UI"/>
                        </a:rPr>
                        <a:t>Tracker writes</a:t>
                      </a:r>
                    </a:p>
                  </a:txBody>
                  <a:tcPr>
                    <a:solidFill>
                      <a:srgbClr val="181F2A"/>
                    </a:solidFill>
                  </a:tcPr>
                </a:tc>
                <a:tc>
                  <a:txBody>
                    <a:bodyPr wrap="square"/>
                    <a:lstStyle/>
                    <a:p>
                      <a:r>
                        <a:rPr sz="1300" b="0">
                          <a:solidFill>
                            <a:srgbClr val="E8ECF1"/>
                          </a:solidFill>
                          <a:latin typeface="Segoe UI"/>
                        </a:rPr>
                        <a:t>Auto-commits progress (team mode)</a:t>
                      </a:r>
                    </a:p>
                  </a:txBody>
                  <a:tcPr>
                    <a:solidFill>
                      <a:srgbClr val="181F2A"/>
                    </a:solidFill>
                  </a:tcPr>
                </a:tc>
              </a:tr>
            </a:tbl>
          </a:graphicData>
        </a:graphic>
      </p:graphicFrame>
      <p:sp>
        <p:nvSpPr>
          <p:cNvPr id="6" name="Rounded Rectangle 5"/>
          <p:cNvSpPr/>
          <p:nvPr/>
        </p:nvSpPr>
        <p:spPr>
          <a:xfrm>
            <a:off x="685800" y="5029200"/>
            <a:ext cx="10789920" cy="11887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212080"/>
            <a:ext cx="10515600" cy="1005840"/>
          </a:xfrm>
          <a:prstGeom prst="rect">
            <a:avLst/>
          </a:prstGeom>
          <a:noFill/>
        </p:spPr>
        <p:txBody>
          <a:bodyPr wrap="square">
            <a:spAutoFit/>
          </a:bodyPr>
          <a:lstStyle/>
          <a:p>
            <a:r>
              <a:rPr sz="2000" b="1" i="0">
                <a:solidFill>
                  <a:srgbClr val="6EE7B7"/>
                </a:solidFill>
                <a:latin typeface="Segoe UI"/>
              </a:rPr>
              <a:t>These fire whether the agent remembers them or not.</a:t>
            </a:r>
          </a:p>
          <a:p>
            <a:r>
              <a:rPr sz="600" b="0" i="0">
                <a:solidFill>
                  <a:srgbClr val="E8ECF1"/>
                </a:solidFill>
                <a:latin typeface="Segoe UI"/>
              </a:rPr>
              <a:t/>
            </a:r>
          </a:p>
          <a:p>
            <a:r>
              <a:rPr sz="1400" b="0" i="0">
                <a:solidFill>
                  <a:srgbClr val="9AA3AF"/>
                </a:solidFill>
                <a:latin typeface="Segoe UI"/>
              </a:rPr>
              <a:t>Hooks live in .claude/settings.json — the runtime enforces them, not the agent.</a:t>
            </a:r>
          </a:p>
        </p:txBody>
      </p:sp>
      <p:sp>
        <p:nvSpPr>
          <p:cNvPr id="8" name="TextBox 7"/>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9" name="TextBox 8"/>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Quality gates that block bad PRs</a:t>
            </a:r>
          </a:p>
        </p:txBody>
      </p:sp>
      <p:sp>
        <p:nvSpPr>
          <p:cNvPr id="5" name="Rounded Rectangle 4"/>
          <p:cNvSpPr/>
          <p:nvPr/>
        </p:nvSpPr>
        <p:spPr>
          <a:xfrm>
            <a:off x="685800" y="1508760"/>
            <a:ext cx="10789920" cy="132588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08760"/>
            <a:ext cx="91440" cy="132588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10424160" cy="457200"/>
          </a:xfrm>
          <a:prstGeom prst="rect">
            <a:avLst/>
          </a:prstGeom>
          <a:noFill/>
        </p:spPr>
        <p:txBody>
          <a:bodyPr wrap="square" lIns="45720" rIns="45720" tIns="18288" bIns="18288">
            <a:spAutoFit/>
          </a:bodyPr>
          <a:lstStyle/>
          <a:p>
            <a:pPr algn="l"/>
            <a:r>
              <a:rPr sz="2000" b="1">
                <a:solidFill>
                  <a:srgbClr val="6EE7B7"/>
                </a:solidFill>
                <a:latin typeface="Consolas"/>
              </a:rPr>
              <a:t>karen</a:t>
            </a:r>
          </a:p>
        </p:txBody>
      </p:sp>
      <p:sp>
        <p:nvSpPr>
          <p:cNvPr id="8" name="TextBox 7"/>
          <p:cNvSpPr txBox="1"/>
          <p:nvPr/>
        </p:nvSpPr>
        <p:spPr>
          <a:xfrm>
            <a:off x="914400" y="2011680"/>
            <a:ext cx="10424160" cy="365760"/>
          </a:xfrm>
          <a:prstGeom prst="rect">
            <a:avLst/>
          </a:prstGeom>
          <a:noFill/>
        </p:spPr>
        <p:txBody>
          <a:bodyPr wrap="square" lIns="45720" rIns="45720" tIns="18288" bIns="18288">
            <a:spAutoFit/>
          </a:bodyPr>
          <a:lstStyle/>
          <a:p>
            <a:pPr algn="l"/>
            <a:r>
              <a:rPr sz="1400" b="0">
                <a:solidFill>
                  <a:srgbClr val="E8ECF1"/>
                </a:solidFill>
                <a:latin typeface="Segoe UI"/>
              </a:rPr>
              <a:t>Audits the final diff against SPEC.md</a:t>
            </a:r>
          </a:p>
        </p:txBody>
      </p:sp>
      <p:sp>
        <p:nvSpPr>
          <p:cNvPr id="9" name="TextBox 8"/>
          <p:cNvSpPr txBox="1"/>
          <p:nvPr/>
        </p:nvSpPr>
        <p:spPr>
          <a:xfrm>
            <a:off x="914400" y="2377439"/>
            <a:ext cx="10424160" cy="457200"/>
          </a:xfrm>
          <a:prstGeom prst="rect">
            <a:avLst/>
          </a:prstGeom>
          <a:noFill/>
        </p:spPr>
        <p:txBody>
          <a:bodyPr wrap="square" lIns="45720" rIns="45720" tIns="18288" bIns="18288">
            <a:spAutoFit/>
          </a:bodyPr>
          <a:lstStyle/>
          <a:p>
            <a:pPr algn="l"/>
            <a:r>
              <a:rPr sz="1200" b="0">
                <a:solidFill>
                  <a:srgbClr val="9AA3AF"/>
                </a:solidFill>
                <a:latin typeface="Segoe UI"/>
              </a:rPr>
              <a:t>PASS → continue.  PARTIAL / FAIL → punch list to PROBLEMS.md, loop again.</a:t>
            </a:r>
          </a:p>
        </p:txBody>
      </p:sp>
      <p:sp>
        <p:nvSpPr>
          <p:cNvPr id="10" name="Rounded Rectangle 9"/>
          <p:cNvSpPr/>
          <p:nvPr/>
        </p:nvSpPr>
        <p:spPr>
          <a:xfrm>
            <a:off x="685800" y="2926080"/>
            <a:ext cx="10789920" cy="132588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926080"/>
            <a:ext cx="91440" cy="1325880"/>
          </a:xfrm>
          <a:prstGeom prst="rect">
            <a:avLst/>
          </a:prstGeom>
          <a:solidFill>
            <a:srgbClr val="F5C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17520"/>
            <a:ext cx="10424160" cy="457200"/>
          </a:xfrm>
          <a:prstGeom prst="rect">
            <a:avLst/>
          </a:prstGeom>
          <a:noFill/>
        </p:spPr>
        <p:txBody>
          <a:bodyPr wrap="square" lIns="45720" rIns="45720" tIns="18288" bIns="18288">
            <a:spAutoFit/>
          </a:bodyPr>
          <a:lstStyle/>
          <a:p>
            <a:pPr algn="l"/>
            <a:r>
              <a:rPr sz="2000" b="1">
                <a:solidFill>
                  <a:srgbClr val="F5C249"/>
                </a:solidFill>
                <a:latin typeface="Consolas"/>
              </a:rPr>
              <a:t>security-reviewer</a:t>
            </a:r>
          </a:p>
        </p:txBody>
      </p:sp>
      <p:sp>
        <p:nvSpPr>
          <p:cNvPr id="13" name="TextBox 12"/>
          <p:cNvSpPr txBox="1"/>
          <p:nvPr/>
        </p:nvSpPr>
        <p:spPr>
          <a:xfrm>
            <a:off x="914400" y="3429000"/>
            <a:ext cx="10424160" cy="365760"/>
          </a:xfrm>
          <a:prstGeom prst="rect">
            <a:avLst/>
          </a:prstGeom>
          <a:noFill/>
        </p:spPr>
        <p:txBody>
          <a:bodyPr wrap="square" lIns="45720" rIns="45720" tIns="18288" bIns="18288">
            <a:spAutoFit/>
          </a:bodyPr>
          <a:lstStyle/>
          <a:p>
            <a:pPr algn="l"/>
            <a:r>
              <a:rPr sz="1400" b="0">
                <a:solidFill>
                  <a:srgbClr val="E8ECF1"/>
                </a:solidFill>
                <a:latin typeface="Segoe UI"/>
              </a:rPr>
              <a:t>Merges app-type threat models with code findings</a:t>
            </a:r>
          </a:p>
        </p:txBody>
      </p:sp>
      <p:sp>
        <p:nvSpPr>
          <p:cNvPr id="14" name="TextBox 13"/>
          <p:cNvSpPr txBox="1"/>
          <p:nvPr/>
        </p:nvSpPr>
        <p:spPr>
          <a:xfrm>
            <a:off x="914400" y="3794760"/>
            <a:ext cx="10424160" cy="457200"/>
          </a:xfrm>
          <a:prstGeom prst="rect">
            <a:avLst/>
          </a:prstGeom>
          <a:noFill/>
        </p:spPr>
        <p:txBody>
          <a:bodyPr wrap="square" lIns="45720" rIns="45720" tIns="18288" bIns="18288">
            <a:spAutoFit/>
          </a:bodyPr>
          <a:lstStyle/>
          <a:p>
            <a:pPr algn="l"/>
            <a:r>
              <a:rPr sz="1200" b="0">
                <a:solidFill>
                  <a:srgbClr val="9AA3AF"/>
                </a:solidFill>
                <a:latin typeface="Segoe UI"/>
              </a:rPr>
              <a:t>Loads checklists from security/profiles/ based on declared app_types (web_app, api, rag, ai_agent, database, frontend, …).</a:t>
            </a:r>
          </a:p>
        </p:txBody>
      </p:sp>
      <p:sp>
        <p:nvSpPr>
          <p:cNvPr id="15" name="Rounded Rectangle 14"/>
          <p:cNvSpPr/>
          <p:nvPr/>
        </p:nvSpPr>
        <p:spPr>
          <a:xfrm>
            <a:off x="685800" y="4343400"/>
            <a:ext cx="10789920" cy="132588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343400"/>
            <a:ext cx="91440" cy="1325880"/>
          </a:xfrm>
          <a:prstGeom prst="rect">
            <a:avLst/>
          </a:prstGeom>
          <a:solidFill>
            <a:srgbClr val="F872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34840"/>
            <a:ext cx="10424160" cy="457200"/>
          </a:xfrm>
          <a:prstGeom prst="rect">
            <a:avLst/>
          </a:prstGeom>
          <a:noFill/>
        </p:spPr>
        <p:txBody>
          <a:bodyPr wrap="square" lIns="45720" rIns="45720" tIns="18288" bIns="18288">
            <a:spAutoFit/>
          </a:bodyPr>
          <a:lstStyle/>
          <a:p>
            <a:pPr algn="l"/>
            <a:r>
              <a:rPr sz="2000" b="1">
                <a:solidFill>
                  <a:srgbClr val="F87271"/>
                </a:solidFill>
                <a:latin typeface="Consolas"/>
              </a:rPr>
              <a:t>evaluate-run</a:t>
            </a:r>
          </a:p>
        </p:txBody>
      </p:sp>
      <p:sp>
        <p:nvSpPr>
          <p:cNvPr id="18" name="TextBox 17"/>
          <p:cNvSpPr txBox="1"/>
          <p:nvPr/>
        </p:nvSpPr>
        <p:spPr>
          <a:xfrm>
            <a:off x="914400" y="4846320"/>
            <a:ext cx="10424160" cy="365760"/>
          </a:xfrm>
          <a:prstGeom prst="rect">
            <a:avLst/>
          </a:prstGeom>
          <a:noFill/>
        </p:spPr>
        <p:txBody>
          <a:bodyPr wrap="square" lIns="45720" rIns="45720" tIns="18288" bIns="18288">
            <a:spAutoFit/>
          </a:bodyPr>
          <a:lstStyle/>
          <a:p>
            <a:pPr algn="l"/>
            <a:r>
              <a:rPr sz="1400" b="0">
                <a:solidFill>
                  <a:srgbClr val="E8ECF1"/>
                </a:solidFill>
                <a:latin typeface="Segoe UI"/>
              </a:rPr>
              <a:t>Scores each agent against its criteria.json</a:t>
            </a:r>
          </a:p>
        </p:txBody>
      </p:sp>
      <p:sp>
        <p:nvSpPr>
          <p:cNvPr id="19" name="TextBox 18"/>
          <p:cNvSpPr txBox="1"/>
          <p:nvPr/>
        </p:nvSpPr>
        <p:spPr>
          <a:xfrm>
            <a:off x="914400" y="5212080"/>
            <a:ext cx="10424160" cy="457200"/>
          </a:xfrm>
          <a:prstGeom prst="rect">
            <a:avLst/>
          </a:prstGeom>
          <a:noFill/>
        </p:spPr>
        <p:txBody>
          <a:bodyPr wrap="square" lIns="45720" rIns="45720" tIns="18288" bIns="18288">
            <a:spAutoFit/>
          </a:bodyPr>
          <a:lstStyle/>
          <a:p>
            <a:pPr algn="l"/>
            <a:r>
              <a:rPr sz="1200" b="0">
                <a:solidFill>
                  <a:srgbClr val="9AA3AF"/>
                </a:solidFill>
                <a:latin typeface="Segoe UI"/>
              </a:rPr>
              <a:t>Writes per-agent verdicts to sessions/&lt;run_id&gt;/traces/&lt;agent&gt;.json.</a:t>
            </a:r>
          </a:p>
        </p:txBody>
      </p:sp>
      <p:sp>
        <p:nvSpPr>
          <p:cNvPr id="20" name="TextBox 19"/>
          <p:cNvSpPr txBox="1"/>
          <p:nvPr/>
        </p:nvSpPr>
        <p:spPr>
          <a:xfrm>
            <a:off x="685800" y="5943600"/>
            <a:ext cx="10789920" cy="457200"/>
          </a:xfrm>
          <a:prstGeom prst="rect">
            <a:avLst/>
          </a:prstGeom>
          <a:noFill/>
        </p:spPr>
        <p:txBody>
          <a:bodyPr wrap="square" lIns="45720" rIns="45720" tIns="18288" bIns="18288">
            <a:spAutoFit/>
          </a:bodyPr>
          <a:lstStyle/>
          <a:p>
            <a:pPr algn="ctr"/>
            <a:r>
              <a:rPr sz="1800" b="1">
                <a:solidFill>
                  <a:srgbClr val="6EE7B7"/>
                </a:solidFill>
                <a:latin typeface="Segoe UI"/>
              </a:rPr>
              <a:t>No PR opens until all three are satisfied.</a:t>
            </a:r>
          </a:p>
        </p:txBody>
      </p:sp>
      <p:sp>
        <p:nvSpPr>
          <p:cNvPr id="21" name="TextBox 20"/>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22" name="TextBox 21"/>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Anatomy of a session</a:t>
            </a:r>
          </a:p>
        </p:txBody>
      </p:sp>
      <p:sp>
        <p:nvSpPr>
          <p:cNvPr id="5" name="TextBox 4"/>
          <p:cNvSpPr txBox="1"/>
          <p:nvPr/>
        </p:nvSpPr>
        <p:spPr>
          <a:xfrm>
            <a:off x="685800" y="914400"/>
            <a:ext cx="10972800" cy="365760"/>
          </a:xfrm>
          <a:prstGeom prst="rect">
            <a:avLst/>
          </a:prstGeom>
          <a:noFill/>
        </p:spPr>
        <p:txBody>
          <a:bodyPr wrap="square" lIns="45720" rIns="45720" tIns="18288" bIns="18288">
            <a:spAutoFit/>
          </a:bodyPr>
          <a:lstStyle/>
          <a:p>
            <a:pPr algn="l"/>
            <a:r>
              <a:rPr sz="1400" b="0">
                <a:solidFill>
                  <a:srgbClr val="9AA3AF"/>
                </a:solidFill>
                <a:latin typeface="Segoe UI"/>
              </a:rPr>
              <a:t>Everything for one run, in one folder</a:t>
            </a:r>
          </a:p>
        </p:txBody>
      </p:sp>
      <p:sp>
        <p:nvSpPr>
          <p:cNvPr id="6" name="Rounded Rectangle 5"/>
          <p:cNvSpPr/>
          <p:nvPr/>
        </p:nvSpPr>
        <p:spPr>
          <a:xfrm>
            <a:off x="685800" y="1554480"/>
            <a:ext cx="10789920" cy="35661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10332720" cy="3383280"/>
          </a:xfrm>
          <a:prstGeom prst="rect">
            <a:avLst/>
          </a:prstGeom>
          <a:noFill/>
        </p:spPr>
        <p:txBody>
          <a:bodyPr wrap="square" lIns="45720" rIns="45720" tIns="18288" bIns="18288">
            <a:spAutoFit/>
          </a:bodyPr>
          <a:lstStyle/>
          <a:p>
            <a:pPr algn="l"/>
            <a:r>
              <a:rPr sz="1400" b="0">
                <a:solidFill>
                  <a:srgbClr val="E8ECF1"/>
                </a:solidFill>
                <a:latin typeface="Consolas"/>
              </a:rPr>
              <a:t>sessions/20260515-1430/</a:t>
            </a:r>
          </a:p>
          <a:p>
            <a:pPr algn="l"/>
            <a:r>
              <a:rPr sz="1400" b="0">
                <a:solidFill>
                  <a:srgbClr val="E8ECF1"/>
                </a:solidFill>
                <a:latin typeface="Consolas"/>
              </a:rPr>
              <a:t>  ├── checkpoint.json         current pipeline stage + metadata</a:t>
            </a:r>
          </a:p>
          <a:p>
            <a:pPr algn="l"/>
            <a:r>
              <a:rPr sz="1400" b="0">
                <a:solidFill>
                  <a:srgbClr val="E8ECF1"/>
                </a:solidFill>
                <a:latin typeface="Consolas"/>
              </a:rPr>
              <a:t>  ├── SPEC.md                 what we're building</a:t>
            </a:r>
          </a:p>
          <a:p>
            <a:pPr algn="l"/>
            <a:r>
              <a:rPr sz="1400" b="0">
                <a:solidFill>
                  <a:srgbClr val="E8ECF1"/>
                </a:solidFill>
                <a:latin typeface="Consolas"/>
              </a:rPr>
              <a:t>  ├── PLAN.md                 how, broken into tasks</a:t>
            </a:r>
          </a:p>
          <a:p>
            <a:pPr algn="l"/>
            <a:r>
              <a:rPr sz="1400" b="0">
                <a:solidFill>
                  <a:srgbClr val="E8ECF1"/>
                </a:solidFill>
                <a:latin typeface="Consolas"/>
              </a:rPr>
              <a:t>  ├── ARCHITECTURE.md         proposed design</a:t>
            </a:r>
          </a:p>
          <a:p>
            <a:pPr algn="l"/>
            <a:r>
              <a:rPr sz="1400" b="0">
                <a:solidFill>
                  <a:srgbClr val="E8ECF1"/>
                </a:solidFill>
                <a:latin typeface="Consolas"/>
              </a:rPr>
              <a:t>  ├── SECURITY_CONCERNS.md    triggered concerns + checklists</a:t>
            </a:r>
          </a:p>
          <a:p>
            <a:pPr algn="l"/>
            <a:r>
              <a:rPr sz="1400" b="0">
                <a:solidFill>
                  <a:srgbClr val="E8ECF1"/>
                </a:solidFill>
                <a:latin typeface="Consolas"/>
              </a:rPr>
              <a:t>  ├── PROGRESS_TRACKER.md     per-agent I/O log (auto-committed)</a:t>
            </a:r>
          </a:p>
          <a:p>
            <a:pPr algn="l"/>
            <a:r>
              <a:rPr sz="1400" b="0">
                <a:solidFill>
                  <a:srgbClr val="E8ECF1"/>
                </a:solidFill>
                <a:latin typeface="Consolas"/>
              </a:rPr>
              <a:t>  ├── PROBLEMS.md             karen + security findings</a:t>
            </a:r>
          </a:p>
          <a:p>
            <a:pPr algn="l"/>
            <a:r>
              <a:rPr sz="1400" b="0">
                <a:solidFill>
                  <a:srgbClr val="E8ECF1"/>
                </a:solidFill>
                <a:latin typeface="Consolas"/>
              </a:rPr>
              <a:t>  ├── traces/&lt;agent&gt;.json     per-agent evaluation verdicts</a:t>
            </a:r>
          </a:p>
          <a:p>
            <a:pPr algn="l"/>
            <a:r>
              <a:rPr sz="1400" b="0">
                <a:solidFill>
                  <a:srgbClr val="E8ECF1"/>
                </a:solidFill>
                <a:latin typeface="Consolas"/>
              </a:rPr>
              <a:t>  └── session_log.json        structured tool-call log</a:t>
            </a:r>
          </a:p>
        </p:txBody>
      </p:sp>
      <p:sp>
        <p:nvSpPr>
          <p:cNvPr id="8" name="Rounded Rectangle 7"/>
          <p:cNvSpPr/>
          <p:nvPr/>
        </p:nvSpPr>
        <p:spPr>
          <a:xfrm>
            <a:off x="685800" y="5349240"/>
            <a:ext cx="3593592" cy="91440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440680"/>
            <a:ext cx="3319272" cy="365760"/>
          </a:xfrm>
          <a:prstGeom prst="rect">
            <a:avLst/>
          </a:prstGeom>
          <a:noFill/>
        </p:spPr>
        <p:txBody>
          <a:bodyPr wrap="square" lIns="45720" rIns="45720" tIns="18288" bIns="18288">
            <a:spAutoFit/>
          </a:bodyPr>
          <a:lstStyle/>
          <a:p>
            <a:pPr algn="l"/>
            <a:r>
              <a:rPr sz="1100" b="1">
                <a:solidFill>
                  <a:srgbClr val="9AA3AF"/>
                </a:solidFill>
                <a:latin typeface="Segoe UI"/>
              </a:rPr>
              <a:t>CLEANUP</a:t>
            </a:r>
          </a:p>
        </p:txBody>
      </p:sp>
      <p:sp>
        <p:nvSpPr>
          <p:cNvPr id="10" name="TextBox 9"/>
          <p:cNvSpPr txBox="1"/>
          <p:nvPr/>
        </p:nvSpPr>
        <p:spPr>
          <a:xfrm>
            <a:off x="822960" y="5760720"/>
            <a:ext cx="3319272" cy="457200"/>
          </a:xfrm>
          <a:prstGeom prst="rect">
            <a:avLst/>
          </a:prstGeom>
          <a:noFill/>
        </p:spPr>
        <p:txBody>
          <a:bodyPr wrap="square" lIns="45720" rIns="45720" tIns="18288" bIns="18288">
            <a:spAutoFit/>
          </a:bodyPr>
          <a:lstStyle/>
          <a:p>
            <a:pPr algn="l"/>
            <a:r>
              <a:rPr sz="1600" b="1">
                <a:solidFill>
                  <a:srgbClr val="F87271"/>
                </a:solidFill>
                <a:latin typeface="Consolas"/>
              </a:rPr>
              <a:t>rm -rf sessions/&lt;id&gt;</a:t>
            </a:r>
          </a:p>
        </p:txBody>
      </p:sp>
      <p:sp>
        <p:nvSpPr>
          <p:cNvPr id="11" name="Rounded Rectangle 10"/>
          <p:cNvSpPr/>
          <p:nvPr/>
        </p:nvSpPr>
        <p:spPr>
          <a:xfrm>
            <a:off x="4325112" y="5349240"/>
            <a:ext cx="3593592" cy="91440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5440680"/>
            <a:ext cx="3319272" cy="365760"/>
          </a:xfrm>
          <a:prstGeom prst="rect">
            <a:avLst/>
          </a:prstGeom>
          <a:noFill/>
        </p:spPr>
        <p:txBody>
          <a:bodyPr wrap="square" lIns="45720" rIns="45720" tIns="18288" bIns="18288">
            <a:spAutoFit/>
          </a:bodyPr>
          <a:lstStyle/>
          <a:p>
            <a:pPr algn="l"/>
            <a:r>
              <a:rPr sz="1100" b="1">
                <a:solidFill>
                  <a:srgbClr val="9AA3AF"/>
                </a:solidFill>
                <a:latin typeface="Segoe UI"/>
              </a:rPr>
              <a:t>DEBUGGING</a:t>
            </a:r>
          </a:p>
        </p:txBody>
      </p:sp>
      <p:sp>
        <p:nvSpPr>
          <p:cNvPr id="13" name="TextBox 12"/>
          <p:cNvSpPr txBox="1"/>
          <p:nvPr/>
        </p:nvSpPr>
        <p:spPr>
          <a:xfrm>
            <a:off x="4462272" y="5760720"/>
            <a:ext cx="3319272" cy="457200"/>
          </a:xfrm>
          <a:prstGeom prst="rect">
            <a:avLst/>
          </a:prstGeom>
          <a:noFill/>
        </p:spPr>
        <p:txBody>
          <a:bodyPr wrap="square" lIns="45720" rIns="45720" tIns="18288" bIns="18288">
            <a:spAutoFit/>
          </a:bodyPr>
          <a:lstStyle/>
          <a:p>
            <a:pPr algn="l"/>
            <a:r>
              <a:rPr sz="1600" b="1">
                <a:solidFill>
                  <a:srgbClr val="F5C249"/>
                </a:solidFill>
                <a:latin typeface="Consolas"/>
              </a:rPr>
              <a:t>ls sessions/&lt;id&gt;</a:t>
            </a:r>
          </a:p>
        </p:txBody>
      </p:sp>
      <p:sp>
        <p:nvSpPr>
          <p:cNvPr id="14" name="Rounded Rectangle 13"/>
          <p:cNvSpPr/>
          <p:nvPr/>
        </p:nvSpPr>
        <p:spPr>
          <a:xfrm>
            <a:off x="7964424" y="5349240"/>
            <a:ext cx="3593592" cy="91440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440680"/>
            <a:ext cx="3319272" cy="365760"/>
          </a:xfrm>
          <a:prstGeom prst="rect">
            <a:avLst/>
          </a:prstGeom>
          <a:noFill/>
        </p:spPr>
        <p:txBody>
          <a:bodyPr wrap="square" lIns="45720" rIns="45720" tIns="18288" bIns="18288">
            <a:spAutoFit/>
          </a:bodyPr>
          <a:lstStyle/>
          <a:p>
            <a:pPr algn="l"/>
            <a:r>
              <a:rPr sz="1100" b="1">
                <a:solidFill>
                  <a:srgbClr val="9AA3AF"/>
                </a:solidFill>
                <a:latin typeface="Segoe UI"/>
              </a:rPr>
              <a:t>RESUME</a:t>
            </a:r>
          </a:p>
        </p:txBody>
      </p:sp>
      <p:sp>
        <p:nvSpPr>
          <p:cNvPr id="16" name="TextBox 15"/>
          <p:cNvSpPr txBox="1"/>
          <p:nvPr/>
        </p:nvSpPr>
        <p:spPr>
          <a:xfrm>
            <a:off x="8101584" y="5760720"/>
            <a:ext cx="3319272" cy="457200"/>
          </a:xfrm>
          <a:prstGeom prst="rect">
            <a:avLst/>
          </a:prstGeom>
          <a:noFill/>
        </p:spPr>
        <p:txBody>
          <a:bodyPr wrap="square" lIns="45720" rIns="45720" tIns="18288" bIns="18288">
            <a:spAutoFit/>
          </a:bodyPr>
          <a:lstStyle/>
          <a:p>
            <a:pPr algn="l"/>
            <a:r>
              <a:rPr sz="1600" b="1">
                <a:solidFill>
                  <a:srgbClr val="6EE7B7"/>
                </a:solidFill>
                <a:latin typeface="Consolas"/>
              </a:rPr>
              <a:t>/resume &lt;id&gt;</a:t>
            </a:r>
          </a:p>
        </p:txBody>
      </p:sp>
      <p:sp>
        <p:nvSpPr>
          <p:cNvPr id="17" name="TextBox 16"/>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8" name="TextBox 17"/>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Adopting it</a:t>
            </a:r>
          </a:p>
        </p:txBody>
      </p:sp>
      <p:sp>
        <p:nvSpPr>
          <p:cNvPr id="5" name="TextBox 4"/>
          <p:cNvSpPr txBox="1"/>
          <p:nvPr/>
        </p:nvSpPr>
        <p:spPr>
          <a:xfrm>
            <a:off x="685800" y="914400"/>
            <a:ext cx="10972800" cy="365760"/>
          </a:xfrm>
          <a:prstGeom prst="rect">
            <a:avLst/>
          </a:prstGeom>
          <a:noFill/>
        </p:spPr>
        <p:txBody>
          <a:bodyPr wrap="square" lIns="45720" rIns="45720" tIns="18288" bIns="18288">
            <a:spAutoFit/>
          </a:bodyPr>
          <a:lstStyle/>
          <a:p>
            <a:pPr algn="l"/>
            <a:r>
              <a:rPr sz="1400" b="0">
                <a:solidFill>
                  <a:srgbClr val="9AA3AF"/>
                </a:solidFill>
                <a:latin typeface="Segoe UI"/>
              </a:rPr>
              <a:t>Five steps. Two are optional.</a:t>
            </a:r>
          </a:p>
        </p:txBody>
      </p:sp>
      <p:sp>
        <p:nvSpPr>
          <p:cNvPr id="6" name="Oval 5"/>
          <p:cNvSpPr/>
          <p:nvPr/>
        </p:nvSpPr>
        <p:spPr>
          <a:xfrm>
            <a:off x="685800" y="1554480"/>
            <a:ext cx="548640" cy="548640"/>
          </a:xfrm>
          <a:prstGeom prst="ellipse">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141A"/>
                </a:solidFill>
              </a:rPr>
              <a:t>1</a:t>
            </a:r>
          </a:p>
        </p:txBody>
      </p:sp>
      <p:sp>
        <p:nvSpPr>
          <p:cNvPr id="7" name="TextBox 6"/>
          <p:cNvSpPr txBox="1"/>
          <p:nvPr/>
        </p:nvSpPr>
        <p:spPr>
          <a:xfrm>
            <a:off x="1417320" y="1645920"/>
            <a:ext cx="10058400" cy="457200"/>
          </a:xfrm>
          <a:prstGeom prst="rect">
            <a:avLst/>
          </a:prstGeom>
          <a:noFill/>
        </p:spPr>
        <p:txBody>
          <a:bodyPr wrap="square" lIns="45720" rIns="45720" tIns="18288" bIns="18288">
            <a:spAutoFit/>
          </a:bodyPr>
          <a:lstStyle/>
          <a:p>
            <a:pPr algn="l"/>
            <a:r>
              <a:rPr sz="1600" b="0">
                <a:solidFill>
                  <a:srgbClr val="E8ECF1"/>
                </a:solidFill>
                <a:latin typeface="Segoe UI"/>
              </a:rPr>
              <a:t>Copy .claude/, sessions/, tests/, scripts/, .github/, .gitignore into your repo</a:t>
            </a:r>
          </a:p>
        </p:txBody>
      </p:sp>
      <p:sp>
        <p:nvSpPr>
          <p:cNvPr id="8" name="Oval 7"/>
          <p:cNvSpPr/>
          <p:nvPr/>
        </p:nvSpPr>
        <p:spPr>
          <a:xfrm>
            <a:off x="685800" y="2331720"/>
            <a:ext cx="548640" cy="548640"/>
          </a:xfrm>
          <a:prstGeom prst="ellipse">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141A"/>
                </a:solidFill>
              </a:rPr>
              <a:t>2</a:t>
            </a:r>
          </a:p>
        </p:txBody>
      </p:sp>
      <p:sp>
        <p:nvSpPr>
          <p:cNvPr id="9" name="TextBox 8"/>
          <p:cNvSpPr txBox="1"/>
          <p:nvPr/>
        </p:nvSpPr>
        <p:spPr>
          <a:xfrm>
            <a:off x="1417320" y="2423160"/>
            <a:ext cx="10058400" cy="457200"/>
          </a:xfrm>
          <a:prstGeom prst="rect">
            <a:avLst/>
          </a:prstGeom>
          <a:noFill/>
        </p:spPr>
        <p:txBody>
          <a:bodyPr wrap="square" lIns="45720" rIns="45720" tIns="18288" bIns="18288">
            <a:spAutoFit/>
          </a:bodyPr>
          <a:lstStyle/>
          <a:p>
            <a:pPr algn="l"/>
            <a:r>
              <a:rPr sz="1600" b="0">
                <a:solidFill>
                  <a:srgbClr val="E8ECF1"/>
                </a:solidFill>
                <a:latin typeface="Segoe UI"/>
              </a:rPr>
              <a:t>Fill in CLAUDE.md — project name, stack, test command</a:t>
            </a:r>
          </a:p>
        </p:txBody>
      </p:sp>
      <p:sp>
        <p:nvSpPr>
          <p:cNvPr id="10" name="Oval 9"/>
          <p:cNvSpPr/>
          <p:nvPr/>
        </p:nvSpPr>
        <p:spPr>
          <a:xfrm>
            <a:off x="685800" y="3108960"/>
            <a:ext cx="548640" cy="548640"/>
          </a:xfrm>
          <a:prstGeom prst="ellipse">
            <a:avLst/>
          </a:prstGeom>
          <a:solidFill>
            <a:srgbClr val="9AA3A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141A"/>
                </a:solidFill>
              </a:rPr>
              <a:t>3</a:t>
            </a:r>
          </a:p>
        </p:txBody>
      </p:sp>
      <p:sp>
        <p:nvSpPr>
          <p:cNvPr id="11" name="TextBox 10"/>
          <p:cNvSpPr txBox="1"/>
          <p:nvPr/>
        </p:nvSpPr>
        <p:spPr>
          <a:xfrm>
            <a:off x="1417320" y="3200400"/>
            <a:ext cx="10058400" cy="457200"/>
          </a:xfrm>
          <a:prstGeom prst="rect">
            <a:avLst/>
          </a:prstGeom>
          <a:noFill/>
        </p:spPr>
        <p:txBody>
          <a:bodyPr wrap="square" lIns="45720" rIns="45720" tIns="18288" bIns="18288">
            <a:spAutoFit/>
          </a:bodyPr>
          <a:lstStyle/>
          <a:p>
            <a:pPr algn="l"/>
            <a:r>
              <a:rPr sz="1600" b="0">
                <a:solidFill>
                  <a:srgbClr val="9AA3AF"/>
                </a:solidFill>
                <a:latin typeface="Segoe UI"/>
              </a:rPr>
              <a:t>(Optional) Declare app_types in CLAUDE.md to load threat models</a:t>
            </a:r>
          </a:p>
        </p:txBody>
      </p:sp>
      <p:sp>
        <p:nvSpPr>
          <p:cNvPr id="12" name="Oval 11"/>
          <p:cNvSpPr/>
          <p:nvPr/>
        </p:nvSpPr>
        <p:spPr>
          <a:xfrm>
            <a:off x="685800" y="3886200"/>
            <a:ext cx="548640" cy="548640"/>
          </a:xfrm>
          <a:prstGeom prst="ellipse">
            <a:avLst/>
          </a:prstGeom>
          <a:solidFill>
            <a:srgbClr val="9AA3A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141A"/>
                </a:solidFill>
              </a:rPr>
              <a:t>4</a:t>
            </a:r>
          </a:p>
        </p:txBody>
      </p:sp>
      <p:sp>
        <p:nvSpPr>
          <p:cNvPr id="13" name="TextBox 12"/>
          <p:cNvSpPr txBox="1"/>
          <p:nvPr/>
        </p:nvSpPr>
        <p:spPr>
          <a:xfrm>
            <a:off x="1417320" y="3977639"/>
            <a:ext cx="10058400" cy="457200"/>
          </a:xfrm>
          <a:prstGeom prst="rect">
            <a:avLst/>
          </a:prstGeom>
          <a:noFill/>
        </p:spPr>
        <p:txBody>
          <a:bodyPr wrap="square" lIns="45720" rIns="45720" tIns="18288" bIns="18288">
            <a:spAutoFit/>
          </a:bodyPr>
          <a:lstStyle/>
          <a:p>
            <a:pPr algn="l"/>
            <a:r>
              <a:rPr sz="1600" b="0">
                <a:solidFill>
                  <a:srgbClr val="9AA3AF"/>
                </a:solidFill>
                <a:latin typeface="Segoe UI"/>
              </a:rPr>
              <a:t>(Optional) Add sessions/*/ to .git/info/exclude for local-only mode</a:t>
            </a:r>
          </a:p>
        </p:txBody>
      </p:sp>
      <p:sp>
        <p:nvSpPr>
          <p:cNvPr id="14" name="Oval 13"/>
          <p:cNvSpPr/>
          <p:nvPr/>
        </p:nvSpPr>
        <p:spPr>
          <a:xfrm>
            <a:off x="685800" y="4663440"/>
            <a:ext cx="548640" cy="548640"/>
          </a:xfrm>
          <a:prstGeom prst="ellipse">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141A"/>
                </a:solidFill>
              </a:rPr>
              <a:t>5</a:t>
            </a:r>
          </a:p>
        </p:txBody>
      </p:sp>
      <p:sp>
        <p:nvSpPr>
          <p:cNvPr id="15" name="TextBox 14"/>
          <p:cNvSpPr txBox="1"/>
          <p:nvPr/>
        </p:nvSpPr>
        <p:spPr>
          <a:xfrm>
            <a:off x="1417320" y="4754879"/>
            <a:ext cx="10058400" cy="457200"/>
          </a:xfrm>
          <a:prstGeom prst="rect">
            <a:avLst/>
          </a:prstGeom>
          <a:noFill/>
        </p:spPr>
        <p:txBody>
          <a:bodyPr wrap="square" lIns="45720" rIns="45720" tIns="18288" bIns="18288">
            <a:spAutoFit/>
          </a:bodyPr>
          <a:lstStyle/>
          <a:p>
            <a:pPr algn="l"/>
            <a:r>
              <a:rPr sz="1600" b="0">
                <a:solidFill>
                  <a:srgbClr val="E8ECF1"/>
                </a:solidFill>
                <a:latin typeface="Segoe UI"/>
              </a:rPr>
              <a:t>/run and describe what you want to build</a:t>
            </a:r>
          </a:p>
        </p:txBody>
      </p:sp>
      <p:sp>
        <p:nvSpPr>
          <p:cNvPr id="16" name="Rounded Rectangle 15"/>
          <p:cNvSpPr/>
          <p:nvPr/>
        </p:nvSpPr>
        <p:spPr>
          <a:xfrm>
            <a:off x="685800" y="5577840"/>
            <a:ext cx="10789920" cy="77724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715000"/>
            <a:ext cx="10515600" cy="548640"/>
          </a:xfrm>
          <a:prstGeom prst="rect">
            <a:avLst/>
          </a:prstGeom>
          <a:noFill/>
        </p:spPr>
        <p:txBody>
          <a:bodyPr wrap="square">
            <a:spAutoFit/>
          </a:bodyPr>
          <a:lstStyle/>
          <a:p>
            <a:r>
              <a:rPr sz="1800" b="1" i="0">
                <a:solidFill>
                  <a:srgbClr val="6EE7B7"/>
                </a:solidFill>
                <a:latin typeface="Segoe UI"/>
              </a:rPr>
              <a:t>That's it. </a:t>
            </a:r>
            <a:r>
              <a:rPr sz="1800" b="0" i="0">
                <a:solidFill>
                  <a:srgbClr val="E8ECF1"/>
                </a:solidFill>
                <a:latin typeface="Segoe UI"/>
              </a:rPr>
              <a:t>No runtime to install. No service to deploy. Pure scaffold.</a:t>
            </a:r>
          </a:p>
        </p:txBody>
      </p:sp>
      <p:sp>
        <p:nvSpPr>
          <p:cNvPr id="18" name="TextBox 17"/>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9" name="TextBox 18"/>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Plain Claude Code vs EFF-IT</a:t>
            </a:r>
          </a:p>
        </p:txBody>
      </p:sp>
      <p:graphicFrame>
        <p:nvGraphicFramePr>
          <p:cNvPr id="5" name="Table 4"/>
          <p:cNvGraphicFramePr>
            <a:graphicFrameLocks noGrp="1"/>
          </p:cNvGraphicFramePr>
          <p:nvPr/>
        </p:nvGraphicFramePr>
        <p:xfrm>
          <a:off x="457200" y="1508760"/>
          <a:ext cx="11247120" cy="4754880"/>
        </p:xfrm>
        <a:graphic>
          <a:graphicData uri="http://schemas.openxmlformats.org/drawingml/2006/table">
            <a:tbl>
              <a:tblPr firstRow="1" bandRow="1">
                <a:tableStyleId>{5C22544A-7EE6-4342-B048-85BDC9FD1C3A}</a:tableStyleId>
              </a:tblPr>
              <a:tblGrid>
                <a:gridCol w="3749040"/>
                <a:gridCol w="3749040"/>
                <a:gridCol w="3749040"/>
              </a:tblGrid>
              <a:tr h="528320">
                <a:tc>
                  <a:txBody>
                    <a:bodyPr wrap="square"/>
                    <a:lstStyle/>
                    <a:p>
                      <a:r>
                        <a:rPr sz="1300" b="1">
                          <a:solidFill>
                            <a:srgbClr val="0F141A"/>
                          </a:solidFill>
                          <a:latin typeface="Segoe UI"/>
                        </a:rPr>
                        <a:t>Concern</a:t>
                      </a:r>
                    </a:p>
                  </a:txBody>
                  <a:tcPr>
                    <a:solidFill>
                      <a:srgbClr val="34A87E"/>
                    </a:solidFill>
                  </a:tcPr>
                </a:tc>
                <a:tc>
                  <a:txBody>
                    <a:bodyPr wrap="square"/>
                    <a:lstStyle/>
                    <a:p>
                      <a:r>
                        <a:rPr sz="1300" b="1">
                          <a:solidFill>
                            <a:srgbClr val="0F141A"/>
                          </a:solidFill>
                          <a:latin typeface="Segoe UI"/>
                        </a:rPr>
                        <a:t>Plain Claude Code</a:t>
                      </a:r>
                    </a:p>
                  </a:txBody>
                  <a:tcPr>
                    <a:solidFill>
                      <a:srgbClr val="34A87E"/>
                    </a:solidFill>
                  </a:tcPr>
                </a:tc>
                <a:tc>
                  <a:txBody>
                    <a:bodyPr wrap="square"/>
                    <a:lstStyle/>
                    <a:p>
                      <a:r>
                        <a:rPr sz="1300" b="1">
                          <a:solidFill>
                            <a:srgbClr val="0F141A"/>
                          </a:solidFill>
                          <a:latin typeface="Segoe UI"/>
                        </a:rPr>
                        <a:t>EFF-IT</a:t>
                      </a:r>
                    </a:p>
                  </a:txBody>
                  <a:tcPr>
                    <a:solidFill>
                      <a:srgbClr val="34A87E"/>
                    </a:solidFill>
                  </a:tcPr>
                </a:tc>
              </a:tr>
              <a:tr h="528320">
                <a:tc>
                  <a:txBody>
                    <a:bodyPr wrap="square"/>
                    <a:lstStyle/>
                    <a:p>
                      <a:r>
                        <a:rPr sz="1300" b="0">
                          <a:solidFill>
                            <a:srgbClr val="E8ECF1"/>
                          </a:solidFill>
                          <a:latin typeface="Segoe UI"/>
                        </a:rPr>
                        <a:t>One agent or many?</a:t>
                      </a:r>
                    </a:p>
                  </a:txBody>
                  <a:tcPr>
                    <a:solidFill>
                      <a:srgbClr val="181F2A"/>
                    </a:solidFill>
                  </a:tcPr>
                </a:tc>
                <a:tc>
                  <a:txBody>
                    <a:bodyPr wrap="square"/>
                    <a:lstStyle/>
                    <a:p>
                      <a:r>
                        <a:rPr sz="1300" b="0">
                          <a:solidFill>
                            <a:srgbClr val="E8ECF1"/>
                          </a:solidFill>
                          <a:latin typeface="Segoe UI"/>
                        </a:rPr>
                        <a:t>One, doing everything</a:t>
                      </a:r>
                    </a:p>
                  </a:txBody>
                  <a:tcPr>
                    <a:solidFill>
                      <a:srgbClr val="181F2A"/>
                    </a:solidFill>
                  </a:tcPr>
                </a:tc>
                <a:tc>
                  <a:txBody>
                    <a:bodyPr wrap="square"/>
                    <a:lstStyle/>
                    <a:p>
                      <a:r>
                        <a:rPr sz="1300" b="0">
                          <a:solidFill>
                            <a:srgbClr val="E8ECF1"/>
                          </a:solidFill>
                          <a:latin typeface="Segoe UI"/>
                        </a:rPr>
                        <a:t>12 single-purpose</a:t>
                      </a:r>
                    </a:p>
                  </a:txBody>
                  <a:tcPr>
                    <a:solidFill>
                      <a:srgbClr val="181F2A"/>
                    </a:solidFill>
                  </a:tcPr>
                </a:tc>
              </a:tr>
              <a:tr h="528320">
                <a:tc>
                  <a:txBody>
                    <a:bodyPr wrap="square"/>
                    <a:lstStyle/>
                    <a:p>
                      <a:r>
                        <a:rPr sz="1300" b="0">
                          <a:solidFill>
                            <a:srgbClr val="E8ECF1"/>
                          </a:solidFill>
                          <a:latin typeface="Segoe UI"/>
                        </a:rPr>
                        <a:t>Session crashes?</a:t>
                      </a:r>
                    </a:p>
                  </a:txBody>
                  <a:tcPr>
                    <a:solidFill>
                      <a:srgbClr val="0F141A"/>
                    </a:solidFill>
                  </a:tcPr>
                </a:tc>
                <a:tc>
                  <a:txBody>
                    <a:bodyPr wrap="square"/>
                    <a:lstStyle/>
                    <a:p>
                      <a:r>
                        <a:rPr sz="1300" b="0">
                          <a:solidFill>
                            <a:srgbClr val="E8ECF1"/>
                          </a:solidFill>
                          <a:latin typeface="Segoe UI"/>
                        </a:rPr>
                        <a:t>Start over</a:t>
                      </a:r>
                    </a:p>
                  </a:txBody>
                  <a:tcPr>
                    <a:solidFill>
                      <a:srgbClr val="0F141A"/>
                    </a:solidFill>
                  </a:tcPr>
                </a:tc>
                <a:tc>
                  <a:txBody>
                    <a:bodyPr wrap="square"/>
                    <a:lstStyle/>
                    <a:p>
                      <a:r>
                        <a:rPr sz="1300" b="0">
                          <a:solidFill>
                            <a:srgbClr val="E8ECF1"/>
                          </a:solidFill>
                          <a:latin typeface="Segoe UI"/>
                        </a:rPr>
                        <a:t>/resume from checkpoint</a:t>
                      </a:r>
                    </a:p>
                  </a:txBody>
                  <a:tcPr>
                    <a:solidFill>
                      <a:srgbClr val="0F141A"/>
                    </a:solidFill>
                  </a:tcPr>
                </a:tc>
              </a:tr>
              <a:tr h="528320">
                <a:tc>
                  <a:txBody>
                    <a:bodyPr wrap="square"/>
                    <a:lstStyle/>
                    <a:p>
                      <a:r>
                        <a:rPr sz="1300" b="0">
                          <a:solidFill>
                            <a:srgbClr val="E8ECF1"/>
                          </a:solidFill>
                          <a:latin typeface="Segoe UI"/>
                        </a:rPr>
                        <a:t>Did we build the right thing?</a:t>
                      </a:r>
                    </a:p>
                  </a:txBody>
                  <a:tcPr>
                    <a:solidFill>
                      <a:srgbClr val="181F2A"/>
                    </a:solidFill>
                  </a:tcPr>
                </a:tc>
                <a:tc>
                  <a:txBody>
                    <a:bodyPr wrap="square"/>
                    <a:lstStyle/>
                    <a:p>
                      <a:r>
                        <a:rPr sz="1300" b="0">
                          <a:solidFill>
                            <a:srgbClr val="E8ECF1"/>
                          </a:solidFill>
                          <a:latin typeface="Segoe UI"/>
                        </a:rPr>
                        <a:t>You check</a:t>
                      </a:r>
                    </a:p>
                  </a:txBody>
                  <a:tcPr>
                    <a:solidFill>
                      <a:srgbClr val="181F2A"/>
                    </a:solidFill>
                  </a:tcPr>
                </a:tc>
                <a:tc>
                  <a:txBody>
                    <a:bodyPr wrap="square"/>
                    <a:lstStyle/>
                    <a:p>
                      <a:r>
                        <a:rPr sz="1300" b="0">
                          <a:solidFill>
                            <a:srgbClr val="E8ECF1"/>
                          </a:solidFill>
                          <a:latin typeface="Segoe UI"/>
                        </a:rPr>
                        <a:t>karen checks</a:t>
                      </a:r>
                    </a:p>
                  </a:txBody>
                  <a:tcPr>
                    <a:solidFill>
                      <a:srgbClr val="181F2A"/>
                    </a:solidFill>
                  </a:tcPr>
                </a:tc>
              </a:tr>
              <a:tr h="528320">
                <a:tc>
                  <a:txBody>
                    <a:bodyPr wrap="square"/>
                    <a:lstStyle/>
                    <a:p>
                      <a:r>
                        <a:rPr sz="1300" b="0">
                          <a:solidFill>
                            <a:srgbClr val="E8ECF1"/>
                          </a:solidFill>
                          <a:latin typeface="Segoe UI"/>
                        </a:rPr>
                        <a:t>Security?</a:t>
                      </a:r>
                    </a:p>
                  </a:txBody>
                  <a:tcPr>
                    <a:solidFill>
                      <a:srgbClr val="0F141A"/>
                    </a:solidFill>
                  </a:tcPr>
                </a:tc>
                <a:tc>
                  <a:txBody>
                    <a:bodyPr wrap="square"/>
                    <a:lstStyle/>
                    <a:p>
                      <a:r>
                        <a:rPr sz="1300" b="0">
                          <a:solidFill>
                            <a:srgbClr val="E8ECF1"/>
                          </a:solidFill>
                          <a:latin typeface="Segoe UI"/>
                        </a:rPr>
                        <a:t>Your job</a:t>
                      </a:r>
                    </a:p>
                  </a:txBody>
                  <a:tcPr>
                    <a:solidFill>
                      <a:srgbClr val="0F141A"/>
                    </a:solidFill>
                  </a:tcPr>
                </a:tc>
                <a:tc>
                  <a:txBody>
                    <a:bodyPr wrap="square"/>
                    <a:lstStyle/>
                    <a:p>
                      <a:r>
                        <a:rPr sz="1300" b="0">
                          <a:solidFill>
                            <a:srgbClr val="E8ECF1"/>
                          </a:solidFill>
                          <a:latin typeface="Segoe UI"/>
                        </a:rPr>
                        <a:t>Profile-driven, every run</a:t>
                      </a:r>
                    </a:p>
                  </a:txBody>
                  <a:tcPr>
                    <a:solidFill>
                      <a:srgbClr val="0F141A"/>
                    </a:solidFill>
                  </a:tcPr>
                </a:tc>
              </a:tr>
              <a:tr h="528320">
                <a:tc>
                  <a:txBody>
                    <a:bodyPr wrap="square"/>
                    <a:lstStyle/>
                    <a:p>
                      <a:r>
                        <a:rPr sz="1300" b="0">
                          <a:solidFill>
                            <a:srgbClr val="E8ECF1"/>
                          </a:solidFill>
                          <a:latin typeface="Segoe UI"/>
                        </a:rPr>
                        <a:t>Tests "adjusted" to pass?</a:t>
                      </a:r>
                    </a:p>
                  </a:txBody>
                  <a:tcPr>
                    <a:solidFill>
                      <a:srgbClr val="181F2A"/>
                    </a:solidFill>
                  </a:tcPr>
                </a:tc>
                <a:tc>
                  <a:txBody>
                    <a:bodyPr wrap="square"/>
                    <a:lstStyle/>
                    <a:p>
                      <a:r>
                        <a:rPr sz="1300" b="0">
                          <a:solidFill>
                            <a:srgbClr val="E8ECF1"/>
                          </a:solidFill>
                          <a:latin typeface="Segoe UI"/>
                        </a:rPr>
                        <a:t>Possible</a:t>
                      </a:r>
                    </a:p>
                  </a:txBody>
                  <a:tcPr>
                    <a:solidFill>
                      <a:srgbClr val="181F2A"/>
                    </a:solidFill>
                  </a:tcPr>
                </a:tc>
                <a:tc>
                  <a:txBody>
                    <a:bodyPr wrap="square"/>
                    <a:lstStyle/>
                    <a:p>
                      <a:r>
                        <a:rPr sz="1300" b="0">
                          <a:solidFill>
                            <a:srgbClr val="E8ECF1"/>
                          </a:solidFill>
                          <a:latin typeface="Segoe UI"/>
                        </a:rPr>
                        <a:t>Blocked at hook level</a:t>
                      </a:r>
                    </a:p>
                  </a:txBody>
                  <a:tcPr>
                    <a:solidFill>
                      <a:srgbClr val="181F2A"/>
                    </a:solidFill>
                  </a:tcPr>
                </a:tc>
              </a:tr>
              <a:tr h="528320">
                <a:tc>
                  <a:txBody>
                    <a:bodyPr wrap="square"/>
                    <a:lstStyle/>
                    <a:p>
                      <a:r>
                        <a:rPr sz="1300" b="0">
                          <a:solidFill>
                            <a:srgbClr val="E8ECF1"/>
                          </a:solidFill>
                          <a:latin typeface="Segoe UI"/>
                        </a:rPr>
                        <a:t>Audit trail?</a:t>
                      </a:r>
                    </a:p>
                  </a:txBody>
                  <a:tcPr>
                    <a:solidFill>
                      <a:srgbClr val="0F141A"/>
                    </a:solidFill>
                  </a:tcPr>
                </a:tc>
                <a:tc>
                  <a:txBody>
                    <a:bodyPr wrap="square"/>
                    <a:lstStyle/>
                    <a:p>
                      <a:r>
                        <a:rPr sz="1300" b="0">
                          <a:solidFill>
                            <a:srgbClr val="E8ECF1"/>
                          </a:solidFill>
                          <a:latin typeface="Segoe UI"/>
                        </a:rPr>
                        <a:t>Transcript only</a:t>
                      </a:r>
                    </a:p>
                  </a:txBody>
                  <a:tcPr>
                    <a:solidFill>
                      <a:srgbClr val="0F141A"/>
                    </a:solidFill>
                  </a:tcPr>
                </a:tc>
                <a:tc>
                  <a:txBody>
                    <a:bodyPr wrap="square"/>
                    <a:lstStyle/>
                    <a:p>
                      <a:r>
                        <a:rPr sz="1300" b="0">
                          <a:solidFill>
                            <a:srgbClr val="E8ECF1"/>
                          </a:solidFill>
                          <a:latin typeface="Segoe UI"/>
                        </a:rPr>
                        <a:t>JSONL log + per-agent traces</a:t>
                      </a:r>
                    </a:p>
                  </a:txBody>
                  <a:tcPr>
                    <a:solidFill>
                      <a:srgbClr val="0F141A"/>
                    </a:solidFill>
                  </a:tcPr>
                </a:tc>
              </a:tr>
              <a:tr h="528320">
                <a:tc>
                  <a:txBody>
                    <a:bodyPr wrap="square"/>
                    <a:lstStyle/>
                    <a:p>
                      <a:r>
                        <a:rPr sz="1300" b="0">
                          <a:solidFill>
                            <a:srgbClr val="E8ECF1"/>
                          </a:solidFill>
                          <a:latin typeface="Segoe UI"/>
                        </a:rPr>
                        <a:t>Scope drift?</a:t>
                      </a:r>
                    </a:p>
                  </a:txBody>
                  <a:tcPr>
                    <a:solidFill>
                      <a:srgbClr val="181F2A"/>
                    </a:solidFill>
                  </a:tcPr>
                </a:tc>
                <a:tc>
                  <a:txBody>
                    <a:bodyPr wrap="square"/>
                    <a:lstStyle/>
                    <a:p>
                      <a:r>
                        <a:rPr sz="1300" b="0">
                          <a:solidFill>
                            <a:srgbClr val="E8ECF1"/>
                          </a:solidFill>
                          <a:latin typeface="Segoe UI"/>
                        </a:rPr>
                        <a:t>Possible</a:t>
                      </a:r>
                    </a:p>
                  </a:txBody>
                  <a:tcPr>
                    <a:solidFill>
                      <a:srgbClr val="181F2A"/>
                    </a:solidFill>
                  </a:tcPr>
                </a:tc>
                <a:tc>
                  <a:txBody>
                    <a:bodyPr wrap="square"/>
                    <a:lstStyle/>
                    <a:p>
                      <a:r>
                        <a:rPr sz="1300" b="0">
                          <a:solidFill>
                            <a:srgbClr val="E8ECF1"/>
                          </a:solidFill>
                          <a:latin typeface="Segoe UI"/>
                        </a:rPr>
                        <a:t>Diff-before-commit hook</a:t>
                      </a:r>
                    </a:p>
                  </a:txBody>
                  <a:tcPr>
                    <a:solidFill>
                      <a:srgbClr val="181F2A"/>
                    </a:solidFill>
                  </a:tcPr>
                </a:tc>
              </a:tr>
              <a:tr h="528320">
                <a:tc>
                  <a:txBody>
                    <a:bodyPr wrap="square"/>
                    <a:lstStyle/>
                    <a:p>
                      <a:r>
                        <a:rPr sz="1300" b="0">
                          <a:solidFill>
                            <a:srgbClr val="E8ECF1"/>
                          </a:solidFill>
                          <a:latin typeface="Segoe UI"/>
                        </a:rPr>
                        <a:t>Portable across repos?</a:t>
                      </a:r>
                    </a:p>
                  </a:txBody>
                  <a:tcPr>
                    <a:solidFill>
                      <a:srgbClr val="0F141A"/>
                    </a:solidFill>
                  </a:tcPr>
                </a:tc>
                <a:tc>
                  <a:txBody>
                    <a:bodyPr wrap="square"/>
                    <a:lstStyle/>
                    <a:p>
                      <a:r>
                        <a:rPr sz="1300" b="0">
                          <a:solidFill>
                            <a:srgbClr val="E8ECF1"/>
                          </a:solidFill>
                          <a:latin typeface="Segoe UI"/>
                        </a:rPr>
                        <a:t>Per-repo CLAUDE.md</a:t>
                      </a:r>
                    </a:p>
                  </a:txBody>
                  <a:tcPr>
                    <a:solidFill>
                      <a:srgbClr val="0F141A"/>
                    </a:solidFill>
                  </a:tcPr>
                </a:tc>
                <a:tc>
                  <a:txBody>
                    <a:bodyPr wrap="square"/>
                    <a:lstStyle/>
                    <a:p>
                      <a:r>
                        <a:rPr sz="1300" b="0">
                          <a:solidFill>
                            <a:srgbClr val="E8ECF1"/>
                          </a:solidFill>
                          <a:latin typeface="Segoe UI"/>
                        </a:rPr>
                        <a:t>Drop-in scaffold</a:t>
                      </a:r>
                    </a:p>
                  </a:txBody>
                  <a:tcPr>
                    <a:solidFill>
                      <a:srgbClr val="0F141A"/>
                    </a:solidFill>
                  </a:tcPr>
                </a:tc>
              </a:tr>
            </a:tbl>
          </a:graphicData>
        </a:graphic>
      </p:graphicFrame>
      <p:sp>
        <p:nvSpPr>
          <p:cNvPr id="6" name="TextBox 5"/>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7" name="TextBox 6"/>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Live demo</a:t>
            </a:r>
          </a:p>
        </p:txBody>
      </p:sp>
      <p:sp>
        <p:nvSpPr>
          <p:cNvPr id="5" name="TextBox 4"/>
          <p:cNvSpPr txBox="1"/>
          <p:nvPr/>
        </p:nvSpPr>
        <p:spPr>
          <a:xfrm>
            <a:off x="685800" y="914400"/>
            <a:ext cx="10972800" cy="365760"/>
          </a:xfrm>
          <a:prstGeom prst="rect">
            <a:avLst/>
          </a:prstGeom>
          <a:noFill/>
        </p:spPr>
        <p:txBody>
          <a:bodyPr wrap="square" lIns="45720" rIns="45720" tIns="18288" bIns="18288">
            <a:spAutoFit/>
          </a:bodyPr>
          <a:lstStyle/>
          <a:p>
            <a:pPr algn="l"/>
            <a:r>
              <a:rPr sz="1400" b="0">
                <a:solidFill>
                  <a:srgbClr val="9AA3AF"/>
                </a:solidFill>
                <a:latin typeface="Segoe UI"/>
              </a:rPr>
              <a:t>Pick one</a:t>
            </a:r>
          </a:p>
        </p:txBody>
      </p:sp>
      <p:sp>
        <p:nvSpPr>
          <p:cNvPr id="6" name="Rounded Rectangle 5"/>
          <p:cNvSpPr/>
          <p:nvPr/>
        </p:nvSpPr>
        <p:spPr>
          <a:xfrm>
            <a:off x="685800" y="1508760"/>
            <a:ext cx="10789920" cy="9601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508760"/>
            <a:ext cx="91440" cy="96012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10515600" cy="457200"/>
          </a:xfrm>
          <a:prstGeom prst="rect">
            <a:avLst/>
          </a:prstGeom>
          <a:noFill/>
        </p:spPr>
        <p:txBody>
          <a:bodyPr wrap="square" lIns="45720" rIns="45720" tIns="18288" bIns="18288">
            <a:spAutoFit/>
          </a:bodyPr>
          <a:lstStyle/>
          <a:p>
            <a:pPr algn="l"/>
            <a:r>
              <a:rPr sz="1500" b="1">
                <a:solidFill>
                  <a:srgbClr val="6EE7B7"/>
                </a:solidFill>
                <a:latin typeface="Consolas"/>
              </a:rPr>
              <a:t>/run "add a JWT refresh endpoint to the auth service"</a:t>
            </a:r>
          </a:p>
        </p:txBody>
      </p:sp>
      <p:sp>
        <p:nvSpPr>
          <p:cNvPr id="9" name="TextBox 8"/>
          <p:cNvSpPr txBox="1"/>
          <p:nvPr/>
        </p:nvSpPr>
        <p:spPr>
          <a:xfrm>
            <a:off x="914400" y="2057400"/>
            <a:ext cx="10515600" cy="365760"/>
          </a:xfrm>
          <a:prstGeom prst="rect">
            <a:avLst/>
          </a:prstGeom>
          <a:noFill/>
        </p:spPr>
        <p:txBody>
          <a:bodyPr wrap="square" lIns="45720" rIns="45720" tIns="18288" bIns="18288">
            <a:spAutoFit/>
          </a:bodyPr>
          <a:lstStyle/>
          <a:p>
            <a:pPr algn="l"/>
            <a:r>
              <a:rPr sz="1300" b="0">
                <a:solidFill>
                  <a:srgbClr val="9AA3AF"/>
                </a:solidFill>
                <a:latin typeface="Segoe UI"/>
              </a:rPr>
              <a:t>Full pipeline. ~8 min if network cooperates.</a:t>
            </a:r>
          </a:p>
        </p:txBody>
      </p:sp>
      <p:sp>
        <p:nvSpPr>
          <p:cNvPr id="10" name="Rounded Rectangle 9"/>
          <p:cNvSpPr/>
          <p:nvPr/>
        </p:nvSpPr>
        <p:spPr>
          <a:xfrm>
            <a:off x="685800" y="2560320"/>
            <a:ext cx="10789920" cy="9601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560320"/>
            <a:ext cx="91440" cy="960120"/>
          </a:xfrm>
          <a:prstGeom prst="rect">
            <a:avLst/>
          </a:prstGeom>
          <a:solidFill>
            <a:srgbClr val="F5C2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651760"/>
            <a:ext cx="10515600" cy="457200"/>
          </a:xfrm>
          <a:prstGeom prst="rect">
            <a:avLst/>
          </a:prstGeom>
          <a:noFill/>
        </p:spPr>
        <p:txBody>
          <a:bodyPr wrap="square" lIns="45720" rIns="45720" tIns="18288" bIns="18288">
            <a:spAutoFit/>
          </a:bodyPr>
          <a:lstStyle/>
          <a:p>
            <a:pPr algn="l"/>
            <a:r>
              <a:rPr sz="1500" b="1">
                <a:solidFill>
                  <a:srgbClr val="F5C249"/>
                </a:solidFill>
                <a:latin typeface="Consolas"/>
              </a:rPr>
              <a:t>/fast-lane "rename UserService.findById to UserService.getById"</a:t>
            </a:r>
          </a:p>
        </p:txBody>
      </p:sp>
      <p:sp>
        <p:nvSpPr>
          <p:cNvPr id="13" name="TextBox 12"/>
          <p:cNvSpPr txBox="1"/>
          <p:nvPr/>
        </p:nvSpPr>
        <p:spPr>
          <a:xfrm>
            <a:off x="914400" y="3108960"/>
            <a:ext cx="10515600" cy="365760"/>
          </a:xfrm>
          <a:prstGeom prst="rect">
            <a:avLst/>
          </a:prstGeom>
          <a:noFill/>
        </p:spPr>
        <p:txBody>
          <a:bodyPr wrap="square" lIns="45720" rIns="45720" tIns="18288" bIns="18288">
            <a:spAutoFit/>
          </a:bodyPr>
          <a:lstStyle/>
          <a:p>
            <a:pPr algn="l"/>
            <a:r>
              <a:rPr sz="1300" b="0">
                <a:solidFill>
                  <a:srgbClr val="9AA3AF"/>
                </a:solidFill>
                <a:latin typeface="Segoe UI"/>
              </a:rPr>
              <a:t>Skip the spec. Safer choice for short slots.</a:t>
            </a:r>
          </a:p>
        </p:txBody>
      </p:sp>
      <p:sp>
        <p:nvSpPr>
          <p:cNvPr id="14" name="Rounded Rectangle 13"/>
          <p:cNvSpPr/>
          <p:nvPr/>
        </p:nvSpPr>
        <p:spPr>
          <a:xfrm>
            <a:off x="685800" y="3611879"/>
            <a:ext cx="10789920" cy="9601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611879"/>
            <a:ext cx="91440" cy="960120"/>
          </a:xfrm>
          <a:prstGeom prst="rect">
            <a:avLst/>
          </a:prstGeom>
          <a:solidFill>
            <a:srgbClr val="F872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703320"/>
            <a:ext cx="10515600" cy="457200"/>
          </a:xfrm>
          <a:prstGeom prst="rect">
            <a:avLst/>
          </a:prstGeom>
          <a:noFill/>
        </p:spPr>
        <p:txBody>
          <a:bodyPr wrap="square" lIns="45720" rIns="45720" tIns="18288" bIns="18288">
            <a:spAutoFit/>
          </a:bodyPr>
          <a:lstStyle/>
          <a:p>
            <a:pPr algn="l"/>
            <a:r>
              <a:rPr sz="1500" b="1">
                <a:solidFill>
                  <a:srgbClr val="F87271"/>
                </a:solidFill>
                <a:latin typeface="Consolas"/>
              </a:rPr>
              <a:t>/resume 20260520-1145</a:t>
            </a:r>
          </a:p>
        </p:txBody>
      </p:sp>
      <p:sp>
        <p:nvSpPr>
          <p:cNvPr id="17" name="TextBox 16"/>
          <p:cNvSpPr txBox="1"/>
          <p:nvPr/>
        </p:nvSpPr>
        <p:spPr>
          <a:xfrm>
            <a:off x="914400" y="4160520"/>
            <a:ext cx="10515600" cy="365760"/>
          </a:xfrm>
          <a:prstGeom prst="rect">
            <a:avLst/>
          </a:prstGeom>
          <a:noFill/>
        </p:spPr>
        <p:txBody>
          <a:bodyPr wrap="square" lIns="45720" rIns="45720" tIns="18288" bIns="18288">
            <a:spAutoFit/>
          </a:bodyPr>
          <a:lstStyle/>
          <a:p>
            <a:pPr algn="l"/>
            <a:r>
              <a:rPr sz="1300" b="0">
                <a:solidFill>
                  <a:srgbClr val="9AA3AF"/>
                </a:solidFill>
                <a:latin typeface="Segoe UI"/>
              </a:rPr>
              <a:t>Rescue option. Use a known-good fixture session.</a:t>
            </a:r>
          </a:p>
        </p:txBody>
      </p:sp>
      <p:sp>
        <p:nvSpPr>
          <p:cNvPr id="18" name="Rounded Rectangle 17"/>
          <p:cNvSpPr/>
          <p:nvPr/>
        </p:nvSpPr>
        <p:spPr>
          <a:xfrm>
            <a:off x="685800" y="4846320"/>
            <a:ext cx="10789920" cy="146304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937760"/>
            <a:ext cx="10515600" cy="365760"/>
          </a:xfrm>
          <a:prstGeom prst="rect">
            <a:avLst/>
          </a:prstGeom>
          <a:noFill/>
        </p:spPr>
        <p:txBody>
          <a:bodyPr wrap="square" lIns="45720" rIns="45720" tIns="18288" bIns="18288">
            <a:spAutoFit/>
          </a:bodyPr>
          <a:lstStyle/>
          <a:p>
            <a:pPr algn="l"/>
            <a:r>
              <a:rPr sz="1400" b="1">
                <a:solidFill>
                  <a:srgbClr val="6EE7B7"/>
                </a:solidFill>
                <a:latin typeface="Segoe UI"/>
              </a:rPr>
              <a:t>What to watch for:</a:t>
            </a:r>
          </a:p>
        </p:txBody>
      </p:sp>
      <p:sp>
        <p:nvSpPr>
          <p:cNvPr id="20" name="TextBox 19"/>
          <p:cNvSpPr txBox="1"/>
          <p:nvPr/>
        </p:nvSpPr>
        <p:spPr>
          <a:xfrm>
            <a:off x="914400" y="5257800"/>
            <a:ext cx="10515600" cy="914400"/>
          </a:xfrm>
          <a:prstGeom prst="rect">
            <a:avLst/>
          </a:prstGeom>
          <a:noFill/>
        </p:spPr>
        <p:txBody>
          <a:bodyPr wrap="square" lIns="45720" rIns="45720" tIns="18288" bIns="18288">
            <a:spAutoFit/>
          </a:bodyPr>
          <a:lstStyle/>
          <a:p>
            <a:pPr algn="l"/>
            <a:r>
              <a:rPr sz="1400" b="0">
                <a:solidFill>
                  <a:srgbClr val="E8ECF1"/>
                </a:solidFill>
                <a:latin typeface="Segoe UI"/>
              </a:rPr>
              <a:t>•  The Q&amp;A loop in idea-interrogator (it really does push back)</a:t>
            </a:r>
          </a:p>
          <a:p>
            <a:pPr algn="l"/>
            <a:r>
              <a:rPr sz="1400" b="0">
                <a:solidFill>
                  <a:srgbClr val="E8ECF1"/>
                </a:solidFill>
                <a:latin typeface="Segoe UI"/>
              </a:rPr>
              <a:t>•  karen returning PARTIAL the first iteration (she usually does)</a:t>
            </a:r>
          </a:p>
          <a:p>
            <a:pPr algn="l"/>
            <a:r>
              <a:rPr sz="1400" b="0">
                <a:solidFill>
                  <a:srgbClr val="E8ECF1"/>
                </a:solidFill>
                <a:latin typeface="Segoe UI"/>
              </a:rPr>
              <a:t>•  Hooks firing in the transcript margin</a:t>
            </a:r>
          </a:p>
        </p:txBody>
      </p:sp>
      <p:sp>
        <p:nvSpPr>
          <p:cNvPr id="21" name="TextBox 20"/>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22" name="TextBox 21"/>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972800" cy="640080"/>
          </a:xfrm>
          <a:prstGeom prst="rect">
            <a:avLst/>
          </a:prstGeom>
          <a:noFill/>
        </p:spPr>
        <p:txBody>
          <a:bodyPr wrap="square" lIns="45720" rIns="45720" tIns="18288" bIns="18288">
            <a:spAutoFit/>
          </a:bodyPr>
          <a:lstStyle/>
          <a:p>
            <a:pPr algn="l"/>
            <a:r>
              <a:rPr sz="3200" b="1">
                <a:solidFill>
                  <a:srgbClr val="E8ECF1"/>
                </a:solidFill>
                <a:latin typeface="Segoe UI"/>
              </a:rPr>
              <a:t>Q&amp;A</a:t>
            </a:r>
          </a:p>
        </p:txBody>
      </p:sp>
      <p:sp>
        <p:nvSpPr>
          <p:cNvPr id="5" name="TextBox 4"/>
          <p:cNvSpPr txBox="1"/>
          <p:nvPr/>
        </p:nvSpPr>
        <p:spPr>
          <a:xfrm>
            <a:off x="685800" y="914400"/>
            <a:ext cx="10972800" cy="365760"/>
          </a:xfrm>
          <a:prstGeom prst="rect">
            <a:avLst/>
          </a:prstGeom>
          <a:noFill/>
        </p:spPr>
        <p:txBody>
          <a:bodyPr wrap="square" lIns="45720" rIns="45720" tIns="18288" bIns="18288">
            <a:spAutoFit/>
          </a:bodyPr>
          <a:lstStyle/>
          <a:p>
            <a:pPr algn="l"/>
            <a:r>
              <a:rPr sz="1400" b="0">
                <a:solidFill>
                  <a:srgbClr val="9AA3AF"/>
                </a:solidFill>
                <a:latin typeface="Segoe UI"/>
              </a:rPr>
              <a:t>Pre-baked answers to the obvious questions</a:t>
            </a:r>
          </a:p>
        </p:txBody>
      </p:sp>
      <p:sp>
        <p:nvSpPr>
          <p:cNvPr id="6" name="Rounded Rectangle 5"/>
          <p:cNvSpPr/>
          <p:nvPr/>
        </p:nvSpPr>
        <p:spPr>
          <a:xfrm>
            <a:off x="685800" y="1508760"/>
            <a:ext cx="10789920" cy="10515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10515600" cy="457200"/>
          </a:xfrm>
          <a:prstGeom prst="rect">
            <a:avLst/>
          </a:prstGeom>
          <a:noFill/>
        </p:spPr>
        <p:txBody>
          <a:bodyPr wrap="square" lIns="45720" rIns="45720" tIns="18288" bIns="18288">
            <a:spAutoFit/>
          </a:bodyPr>
          <a:lstStyle/>
          <a:p>
            <a:pPr algn="l"/>
            <a:r>
              <a:rPr sz="1500" b="1">
                <a:solidFill>
                  <a:srgbClr val="6EE7B7"/>
                </a:solidFill>
                <a:latin typeface="Segoe UI"/>
              </a:rPr>
              <a:t>Q  Why not just use one big agent with a great prompt?</a:t>
            </a:r>
          </a:p>
        </p:txBody>
      </p:sp>
      <p:sp>
        <p:nvSpPr>
          <p:cNvPr id="8" name="TextBox 7"/>
          <p:cNvSpPr txBox="1"/>
          <p:nvPr/>
        </p:nvSpPr>
        <p:spPr>
          <a:xfrm>
            <a:off x="914400" y="2057400"/>
            <a:ext cx="10515600" cy="457200"/>
          </a:xfrm>
          <a:prstGeom prst="rect">
            <a:avLst/>
          </a:prstGeom>
          <a:noFill/>
        </p:spPr>
        <p:txBody>
          <a:bodyPr wrap="square" lIns="45720" rIns="45720" tIns="18288" bIns="18288">
            <a:spAutoFit/>
          </a:bodyPr>
          <a:lstStyle/>
          <a:p>
            <a:pPr algn="l"/>
            <a:r>
              <a:rPr sz="1300" b="0">
                <a:solidFill>
                  <a:srgbClr val="E8ECF1"/>
                </a:solidFill>
                <a:latin typeface="Segoe UI"/>
              </a:rPr>
              <a:t>A  Single agents drift on long tasks. Decomposition + audit catches drift early.</a:t>
            </a:r>
          </a:p>
        </p:txBody>
      </p:sp>
      <p:sp>
        <p:nvSpPr>
          <p:cNvPr id="9" name="Rounded Rectangle 8"/>
          <p:cNvSpPr/>
          <p:nvPr/>
        </p:nvSpPr>
        <p:spPr>
          <a:xfrm>
            <a:off x="685800" y="2651760"/>
            <a:ext cx="10789920" cy="10515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43200"/>
            <a:ext cx="10515600" cy="457200"/>
          </a:xfrm>
          <a:prstGeom prst="rect">
            <a:avLst/>
          </a:prstGeom>
          <a:noFill/>
        </p:spPr>
        <p:txBody>
          <a:bodyPr wrap="square" lIns="45720" rIns="45720" tIns="18288" bIns="18288">
            <a:spAutoFit/>
          </a:bodyPr>
          <a:lstStyle/>
          <a:p>
            <a:pPr algn="l"/>
            <a:r>
              <a:rPr sz="1500" b="1">
                <a:solidFill>
                  <a:srgbClr val="6EE7B7"/>
                </a:solidFill>
                <a:latin typeface="Segoe UI"/>
              </a:rPr>
              <a:t>Q  What if I disagree with karen?</a:t>
            </a:r>
          </a:p>
        </p:txBody>
      </p:sp>
      <p:sp>
        <p:nvSpPr>
          <p:cNvPr id="11" name="TextBox 10"/>
          <p:cNvSpPr txBox="1"/>
          <p:nvPr/>
        </p:nvSpPr>
        <p:spPr>
          <a:xfrm>
            <a:off x="914400" y="3200400"/>
            <a:ext cx="10515600" cy="457200"/>
          </a:xfrm>
          <a:prstGeom prst="rect">
            <a:avLst/>
          </a:prstGeom>
          <a:noFill/>
        </p:spPr>
        <p:txBody>
          <a:bodyPr wrap="square" lIns="45720" rIns="45720" tIns="18288" bIns="18288">
            <a:spAutoFit/>
          </a:bodyPr>
          <a:lstStyle/>
          <a:p>
            <a:pPr algn="l"/>
            <a:r>
              <a:rPr sz="1300" b="0">
                <a:solidFill>
                  <a:srgbClr val="E8ECF1"/>
                </a:solidFill>
                <a:latin typeface="Segoe UI"/>
              </a:rPr>
              <a:t>A  Override and continue — her verdict is advisory at the harness level. You're still the human.</a:t>
            </a:r>
          </a:p>
        </p:txBody>
      </p:sp>
      <p:sp>
        <p:nvSpPr>
          <p:cNvPr id="12" name="Rounded Rectangle 11"/>
          <p:cNvSpPr/>
          <p:nvPr/>
        </p:nvSpPr>
        <p:spPr>
          <a:xfrm>
            <a:off x="685800" y="3794760"/>
            <a:ext cx="10789920" cy="10515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886200"/>
            <a:ext cx="10515600" cy="457200"/>
          </a:xfrm>
          <a:prstGeom prst="rect">
            <a:avLst/>
          </a:prstGeom>
          <a:noFill/>
        </p:spPr>
        <p:txBody>
          <a:bodyPr wrap="square" lIns="45720" rIns="45720" tIns="18288" bIns="18288">
            <a:spAutoFit/>
          </a:bodyPr>
          <a:lstStyle/>
          <a:p>
            <a:pPr algn="l"/>
            <a:r>
              <a:rPr sz="1500" b="1">
                <a:solidFill>
                  <a:srgbClr val="6EE7B7"/>
                </a:solidFill>
                <a:latin typeface="Segoe UI"/>
              </a:rPr>
              <a:t>Q  Does this lock me into Claude?</a:t>
            </a:r>
          </a:p>
        </p:txBody>
      </p:sp>
      <p:sp>
        <p:nvSpPr>
          <p:cNvPr id="14" name="TextBox 13"/>
          <p:cNvSpPr txBox="1"/>
          <p:nvPr/>
        </p:nvSpPr>
        <p:spPr>
          <a:xfrm>
            <a:off x="914400" y="4343400"/>
            <a:ext cx="10515600" cy="457200"/>
          </a:xfrm>
          <a:prstGeom prst="rect">
            <a:avLst/>
          </a:prstGeom>
          <a:noFill/>
        </p:spPr>
        <p:txBody>
          <a:bodyPr wrap="square" lIns="45720" rIns="45720" tIns="18288" bIns="18288">
            <a:spAutoFit/>
          </a:bodyPr>
          <a:lstStyle/>
          <a:p>
            <a:pPr algn="l"/>
            <a:r>
              <a:rPr sz="1300" b="0">
                <a:solidFill>
                  <a:srgbClr val="E8ECF1"/>
                </a:solidFill>
                <a:latin typeface="Segoe UI"/>
              </a:rPr>
              <a:t>A  Hooks and pipeline are model-agnostic. Agents are markdown — portable to any agent runtime.</a:t>
            </a:r>
          </a:p>
        </p:txBody>
      </p:sp>
      <p:sp>
        <p:nvSpPr>
          <p:cNvPr id="15" name="Rounded Rectangle 14"/>
          <p:cNvSpPr/>
          <p:nvPr/>
        </p:nvSpPr>
        <p:spPr>
          <a:xfrm>
            <a:off x="685800" y="4937760"/>
            <a:ext cx="10789920" cy="105156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29200"/>
            <a:ext cx="10515600" cy="457200"/>
          </a:xfrm>
          <a:prstGeom prst="rect">
            <a:avLst/>
          </a:prstGeom>
          <a:noFill/>
        </p:spPr>
        <p:txBody>
          <a:bodyPr wrap="square" lIns="45720" rIns="45720" tIns="18288" bIns="18288">
            <a:spAutoFit/>
          </a:bodyPr>
          <a:lstStyle/>
          <a:p>
            <a:pPr algn="l"/>
            <a:r>
              <a:rPr sz="1500" b="1">
                <a:solidFill>
                  <a:srgbClr val="6EE7B7"/>
                </a:solidFill>
                <a:latin typeface="Segoe UI"/>
              </a:rPr>
              <a:t>Q  What's the failure mode to worry about?</a:t>
            </a:r>
          </a:p>
        </p:txBody>
      </p:sp>
      <p:sp>
        <p:nvSpPr>
          <p:cNvPr id="17" name="TextBox 16"/>
          <p:cNvSpPr txBox="1"/>
          <p:nvPr/>
        </p:nvSpPr>
        <p:spPr>
          <a:xfrm>
            <a:off x="914400" y="5486400"/>
            <a:ext cx="10515600" cy="457200"/>
          </a:xfrm>
          <a:prstGeom prst="rect">
            <a:avLst/>
          </a:prstGeom>
          <a:noFill/>
        </p:spPr>
        <p:txBody>
          <a:bodyPr wrap="square" lIns="45720" rIns="45720" tIns="18288" bIns="18288">
            <a:spAutoFit/>
          </a:bodyPr>
          <a:lstStyle/>
          <a:p>
            <a:pPr algn="l"/>
            <a:r>
              <a:rPr sz="1300" b="0">
                <a:solidFill>
                  <a:srgbClr val="E8ECF1"/>
                </a:solidFill>
                <a:latin typeface="Segoe UI"/>
              </a:rPr>
              <a:t>A  Stale agents. If one hasn't been invoked in 30+ days, it's a candidate for removal.</a:t>
            </a:r>
          </a:p>
        </p:txBody>
      </p:sp>
      <p:sp>
        <p:nvSpPr>
          <p:cNvPr id="18" name="TextBox 17"/>
          <p:cNvSpPr txBox="1"/>
          <p:nvPr/>
        </p:nvSpPr>
        <p:spPr>
          <a:xfrm>
            <a:off x="685800" y="6217920"/>
            <a:ext cx="10789920" cy="365760"/>
          </a:xfrm>
          <a:prstGeom prst="rect">
            <a:avLst/>
          </a:prstGeom>
          <a:noFill/>
        </p:spPr>
        <p:txBody>
          <a:bodyPr wrap="square" lIns="45720" rIns="45720" tIns="18288" bIns="18288">
            <a:spAutoFit/>
          </a:bodyPr>
          <a:lstStyle/>
          <a:p>
            <a:pPr algn="ctr"/>
            <a:r>
              <a:rPr sz="1600" b="1">
                <a:solidFill>
                  <a:srgbClr val="6EE7B7"/>
                </a:solidFill>
                <a:latin typeface="Segoe UI"/>
              </a:rPr>
              <a:t>Thanks. EFF-IT — let the agents handle it.</a:t>
            </a:r>
          </a:p>
        </p:txBody>
      </p:sp>
      <p:sp>
        <p:nvSpPr>
          <p:cNvPr id="19" name="TextBox 18"/>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20" name="TextBox 19"/>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47120" cy="457200"/>
          </a:xfrm>
          <a:prstGeom prst="rect">
            <a:avLst/>
          </a:prstGeom>
          <a:noFill/>
        </p:spPr>
        <p:txBody>
          <a:bodyPr wrap="square" lIns="45720" rIns="45720" tIns="18288" bIns="18288">
            <a:spAutoFit/>
          </a:bodyPr>
          <a:lstStyle/>
          <a:p>
            <a:pPr algn="ctr"/>
            <a:r>
              <a:rPr sz="1800" b="1">
                <a:solidFill>
                  <a:srgbClr val="6EE7B7"/>
                </a:solidFill>
                <a:latin typeface="Segoe UI"/>
              </a:rPr>
              <a:t>APPENDIX</a:t>
            </a:r>
          </a:p>
        </p:txBody>
      </p:sp>
      <p:sp>
        <p:nvSpPr>
          <p:cNvPr id="4" name="TextBox 3"/>
          <p:cNvSpPr txBox="1"/>
          <p:nvPr/>
        </p:nvSpPr>
        <p:spPr>
          <a:xfrm>
            <a:off x="457200" y="2331720"/>
            <a:ext cx="11247120" cy="1097280"/>
          </a:xfrm>
          <a:prstGeom prst="rect">
            <a:avLst/>
          </a:prstGeom>
          <a:noFill/>
        </p:spPr>
        <p:txBody>
          <a:bodyPr wrap="square" lIns="45720" rIns="45720" tIns="18288" bIns="18288">
            <a:spAutoFit/>
          </a:bodyPr>
          <a:lstStyle/>
          <a:p>
            <a:pPr algn="ctr"/>
            <a:r>
              <a:rPr sz="4400" b="1">
                <a:solidFill>
                  <a:srgbClr val="E8ECF1"/>
                </a:solidFill>
                <a:latin typeface="Segoe UI"/>
              </a:rPr>
              <a:t>Case study: /run builds webhooksig</a:t>
            </a:r>
          </a:p>
        </p:txBody>
      </p:sp>
      <p:sp>
        <p:nvSpPr>
          <p:cNvPr id="5" name="TextBox 4"/>
          <p:cNvSpPr txBox="1"/>
          <p:nvPr/>
        </p:nvSpPr>
        <p:spPr>
          <a:xfrm>
            <a:off x="457200" y="3474720"/>
            <a:ext cx="11247120" cy="457200"/>
          </a:xfrm>
          <a:prstGeom prst="rect">
            <a:avLst/>
          </a:prstGeom>
          <a:noFill/>
        </p:spPr>
        <p:txBody>
          <a:bodyPr wrap="square" lIns="45720" rIns="45720" tIns="18288" bIns="18288">
            <a:spAutoFit/>
          </a:bodyPr>
          <a:lstStyle/>
          <a:p>
            <a:pPr algn="ctr"/>
            <a:r>
              <a:rPr sz="1800" b="0">
                <a:solidFill>
                  <a:srgbClr val="9AA3AF"/>
                </a:solidFill>
                <a:latin typeface="Segoe UI"/>
              </a:rPr>
              <a:t>Idea → merged PR in 30 m 13 s. Every stage. Real receipts.</a:t>
            </a:r>
          </a:p>
        </p:txBody>
      </p:sp>
      <p:sp>
        <p:nvSpPr>
          <p:cNvPr id="6" name="Rounded Rectangle 5"/>
          <p:cNvSpPr/>
          <p:nvPr/>
        </p:nvSpPr>
        <p:spPr>
          <a:xfrm>
            <a:off x="685800" y="4389120"/>
            <a:ext cx="2697480" cy="109728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4480560"/>
            <a:ext cx="2697480" cy="548640"/>
          </a:xfrm>
          <a:prstGeom prst="rect">
            <a:avLst/>
          </a:prstGeom>
          <a:noFill/>
        </p:spPr>
        <p:txBody>
          <a:bodyPr wrap="square" lIns="45720" rIns="45720" tIns="18288" bIns="18288">
            <a:spAutoFit/>
          </a:bodyPr>
          <a:lstStyle/>
          <a:p>
            <a:pPr algn="ctr"/>
            <a:r>
              <a:rPr sz="2800" b="1">
                <a:solidFill>
                  <a:srgbClr val="6EE7B7"/>
                </a:solidFill>
                <a:latin typeface="Segoe UI"/>
              </a:rPr>
              <a:t>30m 13s</a:t>
            </a:r>
          </a:p>
        </p:txBody>
      </p:sp>
      <p:sp>
        <p:nvSpPr>
          <p:cNvPr id="8" name="TextBox 7"/>
          <p:cNvSpPr txBox="1"/>
          <p:nvPr/>
        </p:nvSpPr>
        <p:spPr>
          <a:xfrm>
            <a:off x="685800" y="5029200"/>
            <a:ext cx="2697480" cy="365760"/>
          </a:xfrm>
          <a:prstGeom prst="rect">
            <a:avLst/>
          </a:prstGeom>
          <a:noFill/>
        </p:spPr>
        <p:txBody>
          <a:bodyPr wrap="square" lIns="45720" rIns="45720" tIns="18288" bIns="18288">
            <a:spAutoFit/>
          </a:bodyPr>
          <a:lstStyle/>
          <a:p>
            <a:pPr algn="ctr"/>
            <a:r>
              <a:rPr sz="1100" b="0">
                <a:solidFill>
                  <a:srgbClr val="9AA3AF"/>
                </a:solidFill>
                <a:latin typeface="Segoe UI"/>
              </a:rPr>
              <a:t>wall clock</a:t>
            </a:r>
          </a:p>
        </p:txBody>
      </p:sp>
      <p:sp>
        <p:nvSpPr>
          <p:cNvPr id="9" name="Rounded Rectangle 8"/>
          <p:cNvSpPr/>
          <p:nvPr/>
        </p:nvSpPr>
        <p:spPr>
          <a:xfrm>
            <a:off x="3474720" y="4389120"/>
            <a:ext cx="2697480" cy="109728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4480560"/>
            <a:ext cx="2697480" cy="548640"/>
          </a:xfrm>
          <a:prstGeom prst="rect">
            <a:avLst/>
          </a:prstGeom>
          <a:noFill/>
        </p:spPr>
        <p:txBody>
          <a:bodyPr wrap="square" lIns="45720" rIns="45720" tIns="18288" bIns="18288">
            <a:spAutoFit/>
          </a:bodyPr>
          <a:lstStyle/>
          <a:p>
            <a:pPr algn="ctr"/>
            <a:r>
              <a:rPr sz="2800" b="1">
                <a:solidFill>
                  <a:srgbClr val="F5C249"/>
                </a:solidFill>
                <a:latin typeface="Segoe UI"/>
              </a:rPr>
              <a:t>12</a:t>
            </a:r>
          </a:p>
        </p:txBody>
      </p:sp>
      <p:sp>
        <p:nvSpPr>
          <p:cNvPr id="11" name="TextBox 10"/>
          <p:cNvSpPr txBox="1"/>
          <p:nvPr/>
        </p:nvSpPr>
        <p:spPr>
          <a:xfrm>
            <a:off x="3474720" y="5029200"/>
            <a:ext cx="2697480" cy="365760"/>
          </a:xfrm>
          <a:prstGeom prst="rect">
            <a:avLst/>
          </a:prstGeom>
          <a:noFill/>
        </p:spPr>
        <p:txBody>
          <a:bodyPr wrap="square" lIns="45720" rIns="45720" tIns="18288" bIns="18288">
            <a:spAutoFit/>
          </a:bodyPr>
          <a:lstStyle/>
          <a:p>
            <a:pPr algn="ctr"/>
            <a:r>
              <a:rPr sz="1100" b="0">
                <a:solidFill>
                  <a:srgbClr val="9AA3AF"/>
                </a:solidFill>
                <a:latin typeface="Segoe UI"/>
              </a:rPr>
              <a:t>agents invoked</a:t>
            </a:r>
          </a:p>
        </p:txBody>
      </p:sp>
      <p:sp>
        <p:nvSpPr>
          <p:cNvPr id="12" name="Rounded Rectangle 11"/>
          <p:cNvSpPr/>
          <p:nvPr/>
        </p:nvSpPr>
        <p:spPr>
          <a:xfrm>
            <a:off x="6263640" y="4389120"/>
            <a:ext cx="2697480" cy="109728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4480560"/>
            <a:ext cx="2697480" cy="548640"/>
          </a:xfrm>
          <a:prstGeom prst="rect">
            <a:avLst/>
          </a:prstGeom>
          <a:noFill/>
        </p:spPr>
        <p:txBody>
          <a:bodyPr wrap="square" lIns="45720" rIns="45720" tIns="18288" bIns="18288">
            <a:spAutoFit/>
          </a:bodyPr>
          <a:lstStyle/>
          <a:p>
            <a:pPr algn="ctr"/>
            <a:r>
              <a:rPr sz="2800" b="1">
                <a:solidFill>
                  <a:srgbClr val="6EE7B7"/>
                </a:solidFill>
                <a:latin typeface="Segoe UI"/>
              </a:rPr>
              <a:t>182</a:t>
            </a:r>
          </a:p>
        </p:txBody>
      </p:sp>
      <p:sp>
        <p:nvSpPr>
          <p:cNvPr id="14" name="TextBox 13"/>
          <p:cNvSpPr txBox="1"/>
          <p:nvPr/>
        </p:nvSpPr>
        <p:spPr>
          <a:xfrm>
            <a:off x="6263640" y="5029200"/>
            <a:ext cx="2697480" cy="365760"/>
          </a:xfrm>
          <a:prstGeom prst="rect">
            <a:avLst/>
          </a:prstGeom>
          <a:noFill/>
        </p:spPr>
        <p:txBody>
          <a:bodyPr wrap="square" lIns="45720" rIns="45720" tIns="18288" bIns="18288">
            <a:spAutoFit/>
          </a:bodyPr>
          <a:lstStyle/>
          <a:p>
            <a:pPr algn="ctr"/>
            <a:r>
              <a:rPr sz="1100" b="0">
                <a:solidFill>
                  <a:srgbClr val="9AA3AF"/>
                </a:solidFill>
                <a:latin typeface="Segoe UI"/>
              </a:rPr>
              <a:t>tests written</a:t>
            </a:r>
          </a:p>
        </p:txBody>
      </p:sp>
      <p:sp>
        <p:nvSpPr>
          <p:cNvPr id="15" name="Rounded Rectangle 14"/>
          <p:cNvSpPr/>
          <p:nvPr/>
        </p:nvSpPr>
        <p:spPr>
          <a:xfrm>
            <a:off x="9052560" y="4389120"/>
            <a:ext cx="2697480" cy="109728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4480560"/>
            <a:ext cx="2697480" cy="548640"/>
          </a:xfrm>
          <a:prstGeom prst="rect">
            <a:avLst/>
          </a:prstGeom>
          <a:noFill/>
        </p:spPr>
        <p:txBody>
          <a:bodyPr wrap="square" lIns="45720" rIns="45720" tIns="18288" bIns="18288">
            <a:spAutoFit/>
          </a:bodyPr>
          <a:lstStyle/>
          <a:p>
            <a:pPr algn="ctr"/>
            <a:r>
              <a:rPr sz="2800" b="1">
                <a:solidFill>
                  <a:srgbClr val="F87271"/>
                </a:solidFill>
                <a:latin typeface="Segoe UI"/>
              </a:rPr>
              <a:t>$0.05</a:t>
            </a:r>
          </a:p>
        </p:txBody>
      </p:sp>
      <p:sp>
        <p:nvSpPr>
          <p:cNvPr id="17" name="TextBox 16"/>
          <p:cNvSpPr txBox="1"/>
          <p:nvPr/>
        </p:nvSpPr>
        <p:spPr>
          <a:xfrm>
            <a:off x="9052560" y="5029200"/>
            <a:ext cx="2697480" cy="365760"/>
          </a:xfrm>
          <a:prstGeom prst="rect">
            <a:avLst/>
          </a:prstGeom>
          <a:noFill/>
        </p:spPr>
        <p:txBody>
          <a:bodyPr wrap="square" lIns="45720" rIns="45720" tIns="18288" bIns="18288">
            <a:spAutoFit/>
          </a:bodyPr>
          <a:lstStyle/>
          <a:p>
            <a:pPr algn="ctr"/>
            <a:r>
              <a:rPr sz="1100" b="0">
                <a:solidFill>
                  <a:srgbClr val="9AA3AF"/>
                </a:solidFill>
                <a:latin typeface="Segoe UI"/>
              </a:rPr>
              <a:t>approx token cost</a:t>
            </a:r>
          </a:p>
        </p:txBody>
      </p:sp>
      <p:sp>
        <p:nvSpPr>
          <p:cNvPr id="18" name="TextBox 17"/>
          <p:cNvSpPr txBox="1"/>
          <p:nvPr/>
        </p:nvSpPr>
        <p:spPr>
          <a:xfrm>
            <a:off x="457200" y="5852160"/>
            <a:ext cx="11247120" cy="365760"/>
          </a:xfrm>
          <a:prstGeom prst="rect">
            <a:avLst/>
          </a:prstGeom>
          <a:noFill/>
        </p:spPr>
        <p:txBody>
          <a:bodyPr wrap="square" lIns="45720" rIns="45720" tIns="18288" bIns="18288">
            <a:spAutoFit/>
          </a:bodyPr>
          <a:lstStyle/>
          <a:p>
            <a:pPr algn="ctr"/>
            <a:r>
              <a:rPr sz="1000" b="0">
                <a:solidFill>
                  <a:srgbClr val="9AA3AF"/>
                </a:solidFill>
                <a:latin typeface="Consolas"/>
              </a:rPr>
              <a:t>Full screen recording available alongside this deck: pptx_refs/Screen Recording 2026-05-22 at 10.51.37 AM.mov</a:t>
            </a:r>
          </a:p>
        </p:txBody>
      </p:sp>
      <p:sp>
        <p:nvSpPr>
          <p:cNvPr id="19" name="TextBox 18"/>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20" name="TextBox 19"/>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92608"/>
            <a:ext cx="1828800" cy="365760"/>
          </a:xfrm>
          <a:prstGeom prst="rect">
            <a:avLst/>
          </a:prstGeom>
          <a:noFill/>
        </p:spPr>
        <p:txBody>
          <a:bodyPr wrap="square" lIns="45720" rIns="45720" tIns="18288" bIns="18288">
            <a:spAutoFit/>
          </a:bodyPr>
          <a:lstStyle/>
          <a:p>
            <a:pPr algn="l"/>
            <a:r>
              <a:rPr sz="1100" b="1">
                <a:solidFill>
                  <a:srgbClr val="6EE7B7"/>
                </a:solidFill>
                <a:latin typeface="Segoe UI"/>
              </a:rPr>
              <a:t>APPENDIX · 1 / 8</a:t>
            </a:r>
          </a:p>
        </p:txBody>
      </p:sp>
      <p:sp>
        <p:nvSpPr>
          <p:cNvPr id="5" name="TextBox 4"/>
          <p:cNvSpPr txBox="1"/>
          <p:nvPr/>
        </p:nvSpPr>
        <p:spPr>
          <a:xfrm>
            <a:off x="685800" y="594360"/>
            <a:ext cx="10972800" cy="457200"/>
          </a:xfrm>
          <a:prstGeom prst="rect">
            <a:avLst/>
          </a:prstGeom>
          <a:noFill/>
        </p:spPr>
        <p:txBody>
          <a:bodyPr wrap="square" lIns="45720" rIns="45720" tIns="18288" bIns="18288">
            <a:spAutoFit/>
          </a:bodyPr>
          <a:lstStyle/>
          <a:p>
            <a:pPr algn="l"/>
            <a:r>
              <a:rPr sz="2400" b="1">
                <a:solidFill>
                  <a:srgbClr val="E8ECF1"/>
                </a:solidFill>
                <a:latin typeface="Segoe UI"/>
              </a:rPr>
              <a:t>Step 0–1: Invocation + interrogation</a:t>
            </a:r>
          </a:p>
        </p:txBody>
      </p:sp>
      <p:sp>
        <p:nvSpPr>
          <p:cNvPr id="6" name="TextBox 5"/>
          <p:cNvSpPr txBox="1"/>
          <p:nvPr/>
        </p:nvSpPr>
        <p:spPr>
          <a:xfrm>
            <a:off x="685800" y="960120"/>
            <a:ext cx="10972800" cy="320040"/>
          </a:xfrm>
          <a:prstGeom prst="rect">
            <a:avLst/>
          </a:prstGeom>
          <a:noFill/>
        </p:spPr>
        <p:txBody>
          <a:bodyPr wrap="square" lIns="45720" rIns="45720" tIns="18288" bIns="18288">
            <a:spAutoFit/>
          </a:bodyPr>
          <a:lstStyle/>
          <a:p>
            <a:pPr algn="l"/>
            <a:r>
              <a:rPr sz="1200" b="0">
                <a:solidFill>
                  <a:srgbClr val="9AA3AF"/>
                </a:solidFill>
                <a:latin typeface="Segoe UI"/>
              </a:rPr>
              <a:t>From /run to a working pitch in two minutes</a:t>
            </a:r>
          </a:p>
        </p:txBody>
      </p:sp>
      <p:pic>
        <p:nvPicPr>
          <p:cNvPr id="7" name="Picture 6" descr="01a-invoke.jpg"/>
          <p:cNvPicPr>
            <a:picLocks noChangeAspect="1"/>
          </p:cNvPicPr>
          <p:nvPr/>
        </p:nvPicPr>
        <p:blipFill>
          <a:blip r:embed="rId2"/>
          <a:stretch>
            <a:fillRect/>
          </a:stretch>
        </p:blipFill>
        <p:spPr>
          <a:xfrm>
            <a:off x="457200" y="2023025"/>
            <a:ext cx="5577840" cy="2949108"/>
          </a:xfrm>
          <a:prstGeom prst="rect">
            <a:avLst/>
          </a:prstGeom>
          <a:ln w="9525">
            <a:solidFill>
              <a:srgbClr val="34A87E"/>
            </a:solidFill>
          </a:ln>
        </p:spPr>
      </p:pic>
      <p:pic>
        <p:nvPicPr>
          <p:cNvPr id="8" name="Picture 7" descr="01b-interrogator-pitch.jpg"/>
          <p:cNvPicPr>
            <a:picLocks noChangeAspect="1"/>
          </p:cNvPicPr>
          <p:nvPr/>
        </p:nvPicPr>
        <p:blipFill>
          <a:blip r:embed="rId3"/>
          <a:stretch>
            <a:fillRect/>
          </a:stretch>
        </p:blipFill>
        <p:spPr>
          <a:xfrm>
            <a:off x="6172200" y="2725263"/>
            <a:ext cx="5577840" cy="1544632"/>
          </a:xfrm>
          <a:prstGeom prst="rect">
            <a:avLst/>
          </a:prstGeom>
          <a:ln w="9525">
            <a:solidFill>
              <a:srgbClr val="34A87E"/>
            </a:solidFill>
          </a:ln>
        </p:spPr>
      </p:pic>
      <p:sp>
        <p:nvSpPr>
          <p:cNvPr id="9" name="Rounded Rectangle 8"/>
          <p:cNvSpPr/>
          <p:nvPr/>
        </p:nvSpPr>
        <p:spPr>
          <a:xfrm>
            <a:off x="457200" y="5806440"/>
            <a:ext cx="11247120" cy="5029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897880"/>
            <a:ext cx="10789920" cy="365760"/>
          </a:xfrm>
          <a:prstGeom prst="rect">
            <a:avLst/>
          </a:prstGeom>
          <a:noFill/>
        </p:spPr>
        <p:txBody>
          <a:bodyPr wrap="square" lIns="45720" rIns="45720" tIns="18288" bIns="18288">
            <a:spAutoFit/>
          </a:bodyPr>
          <a:lstStyle/>
          <a:p>
            <a:pPr algn="l"/>
            <a:r>
              <a:rPr sz="1300" b="0">
                <a:solidFill>
                  <a:srgbClr val="E8ECF1"/>
                </a:solidFill>
                <a:latin typeface="Segoe UI"/>
              </a:rPr>
              <a:t>Left: /run skill confirmation.   Right: the interrogator's working pitch — webhooksig was born here.</a:t>
            </a:r>
          </a:p>
        </p:txBody>
      </p:sp>
      <p:sp>
        <p:nvSpPr>
          <p:cNvPr id="11" name="TextBox 10"/>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2" name="TextBox 11"/>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92608"/>
            <a:ext cx="1828800" cy="365760"/>
          </a:xfrm>
          <a:prstGeom prst="rect">
            <a:avLst/>
          </a:prstGeom>
          <a:noFill/>
        </p:spPr>
        <p:txBody>
          <a:bodyPr wrap="square" lIns="45720" rIns="45720" tIns="18288" bIns="18288">
            <a:spAutoFit/>
          </a:bodyPr>
          <a:lstStyle/>
          <a:p>
            <a:pPr algn="l"/>
            <a:r>
              <a:rPr sz="1100" b="1">
                <a:solidFill>
                  <a:srgbClr val="6EE7B7"/>
                </a:solidFill>
                <a:latin typeface="Segoe UI"/>
              </a:rPr>
              <a:t>APPENDIX · 2 / 8</a:t>
            </a:r>
          </a:p>
        </p:txBody>
      </p:sp>
      <p:sp>
        <p:nvSpPr>
          <p:cNvPr id="5" name="TextBox 4"/>
          <p:cNvSpPr txBox="1"/>
          <p:nvPr/>
        </p:nvSpPr>
        <p:spPr>
          <a:xfrm>
            <a:off x="685800" y="594360"/>
            <a:ext cx="10972800" cy="457200"/>
          </a:xfrm>
          <a:prstGeom prst="rect">
            <a:avLst/>
          </a:prstGeom>
          <a:noFill/>
        </p:spPr>
        <p:txBody>
          <a:bodyPr wrap="square" lIns="45720" rIns="45720" tIns="18288" bIns="18288">
            <a:spAutoFit/>
          </a:bodyPr>
          <a:lstStyle/>
          <a:p>
            <a:pPr algn="l"/>
            <a:r>
              <a:rPr sz="2400" b="1">
                <a:solidFill>
                  <a:srgbClr val="E8ECF1"/>
                </a:solidFill>
                <a:latin typeface="Segoe UI"/>
              </a:rPr>
              <a:t>Step 2: SPEC.md emerges</a:t>
            </a:r>
          </a:p>
        </p:txBody>
      </p:sp>
      <p:sp>
        <p:nvSpPr>
          <p:cNvPr id="6" name="TextBox 5"/>
          <p:cNvSpPr txBox="1"/>
          <p:nvPr/>
        </p:nvSpPr>
        <p:spPr>
          <a:xfrm>
            <a:off x="685800" y="960120"/>
            <a:ext cx="10972800" cy="320040"/>
          </a:xfrm>
          <a:prstGeom prst="rect">
            <a:avLst/>
          </a:prstGeom>
          <a:noFill/>
        </p:spPr>
        <p:txBody>
          <a:bodyPr wrap="square" lIns="45720" rIns="45720" tIns="18288" bIns="18288">
            <a:spAutoFit/>
          </a:bodyPr>
          <a:lstStyle/>
          <a:p>
            <a:pPr algn="l"/>
            <a:r>
              <a:rPr sz="1200" b="0">
                <a:solidFill>
                  <a:srgbClr val="9AA3AF"/>
                </a:solidFill>
                <a:latin typeface="Segoe UI"/>
              </a:rPr>
              <a:t>The contract karen audits against, hours from now</a:t>
            </a:r>
          </a:p>
        </p:txBody>
      </p:sp>
      <p:pic>
        <p:nvPicPr>
          <p:cNvPr id="7" name="Picture 6" descr="02-spec.jpg"/>
          <p:cNvPicPr>
            <a:picLocks noChangeAspect="1"/>
          </p:cNvPicPr>
          <p:nvPr/>
        </p:nvPicPr>
        <p:blipFill>
          <a:blip r:embed="rId2"/>
          <a:stretch>
            <a:fillRect/>
          </a:stretch>
        </p:blipFill>
        <p:spPr>
          <a:xfrm>
            <a:off x="2567178" y="1325880"/>
            <a:ext cx="7027164" cy="4343400"/>
          </a:xfrm>
          <a:prstGeom prst="rect">
            <a:avLst/>
          </a:prstGeom>
          <a:ln w="9525">
            <a:solidFill>
              <a:srgbClr val="34A87E"/>
            </a:solidFill>
          </a:ln>
        </p:spPr>
      </p:pic>
      <p:sp>
        <p:nvSpPr>
          <p:cNvPr id="8" name="Rounded Rectangle 7"/>
          <p:cNvSpPr/>
          <p:nvPr/>
        </p:nvSpPr>
        <p:spPr>
          <a:xfrm>
            <a:off x="457200" y="5806440"/>
            <a:ext cx="11247120" cy="5029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897880"/>
            <a:ext cx="10789920" cy="365760"/>
          </a:xfrm>
          <a:prstGeom prst="rect">
            <a:avLst/>
          </a:prstGeom>
          <a:noFill/>
        </p:spPr>
        <p:txBody>
          <a:bodyPr wrap="square" lIns="45720" rIns="45720" tIns="18288" bIns="18288">
            <a:spAutoFit/>
          </a:bodyPr>
          <a:lstStyle/>
          <a:p>
            <a:pPr algn="l"/>
            <a:r>
              <a:rPr sz="1300" b="0">
                <a:solidFill>
                  <a:srgbClr val="E8ECF1"/>
                </a:solidFill>
                <a:latin typeface="Segoe UI"/>
              </a:rPr>
              <a:t>Goals, non-goals, users, scope — drafted before a single source file is touched.</a:t>
            </a:r>
          </a:p>
        </p:txBody>
      </p:sp>
      <p:sp>
        <p:nvSpPr>
          <p:cNvPr id="10" name="TextBox 9"/>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1" name="TextBox 10"/>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92608"/>
            <a:ext cx="1828800" cy="365760"/>
          </a:xfrm>
          <a:prstGeom prst="rect">
            <a:avLst/>
          </a:prstGeom>
          <a:noFill/>
        </p:spPr>
        <p:txBody>
          <a:bodyPr wrap="square" lIns="45720" rIns="45720" tIns="18288" bIns="18288">
            <a:spAutoFit/>
          </a:bodyPr>
          <a:lstStyle/>
          <a:p>
            <a:pPr algn="l"/>
            <a:r>
              <a:rPr sz="1100" b="1">
                <a:solidFill>
                  <a:srgbClr val="6EE7B7"/>
                </a:solidFill>
                <a:latin typeface="Segoe UI"/>
              </a:rPr>
              <a:t>APPENDIX · 3 / 8</a:t>
            </a:r>
          </a:p>
        </p:txBody>
      </p:sp>
      <p:sp>
        <p:nvSpPr>
          <p:cNvPr id="5" name="TextBox 4"/>
          <p:cNvSpPr txBox="1"/>
          <p:nvPr/>
        </p:nvSpPr>
        <p:spPr>
          <a:xfrm>
            <a:off x="685800" y="594360"/>
            <a:ext cx="10972800" cy="457200"/>
          </a:xfrm>
          <a:prstGeom prst="rect">
            <a:avLst/>
          </a:prstGeom>
          <a:noFill/>
        </p:spPr>
        <p:txBody>
          <a:bodyPr wrap="square" lIns="45720" rIns="45720" tIns="18288" bIns="18288">
            <a:spAutoFit/>
          </a:bodyPr>
          <a:lstStyle/>
          <a:p>
            <a:pPr algn="l"/>
            <a:r>
              <a:rPr sz="2400" b="1">
                <a:solidFill>
                  <a:srgbClr val="E8ECF1"/>
                </a:solidFill>
                <a:latin typeface="Segoe UI"/>
              </a:rPr>
              <a:t>Step 3: Security concerns, merged per app_type</a:t>
            </a:r>
          </a:p>
        </p:txBody>
      </p:sp>
      <p:sp>
        <p:nvSpPr>
          <p:cNvPr id="6" name="TextBox 5"/>
          <p:cNvSpPr txBox="1"/>
          <p:nvPr/>
        </p:nvSpPr>
        <p:spPr>
          <a:xfrm>
            <a:off x="685800" y="960120"/>
            <a:ext cx="10972800" cy="320040"/>
          </a:xfrm>
          <a:prstGeom prst="rect">
            <a:avLst/>
          </a:prstGeom>
          <a:noFill/>
        </p:spPr>
        <p:txBody>
          <a:bodyPr wrap="square" lIns="45720" rIns="45720" tIns="18288" bIns="18288">
            <a:spAutoFit/>
          </a:bodyPr>
          <a:lstStyle/>
          <a:p>
            <a:pPr algn="l"/>
            <a:r>
              <a:rPr sz="1200" b="0">
                <a:solidFill>
                  <a:srgbClr val="9AA3AF"/>
                </a:solidFill>
                <a:latin typeface="Segoe UI"/>
              </a:rPr>
              <a:t>The threat-model story from slide 9 — in production form</a:t>
            </a:r>
          </a:p>
        </p:txBody>
      </p:sp>
      <p:pic>
        <p:nvPicPr>
          <p:cNvPr id="7" name="Picture 6" descr="03a-security-concerns-1.jpg"/>
          <p:cNvPicPr>
            <a:picLocks noChangeAspect="1"/>
          </p:cNvPicPr>
          <p:nvPr/>
        </p:nvPicPr>
        <p:blipFill>
          <a:blip r:embed="rId2"/>
          <a:stretch>
            <a:fillRect/>
          </a:stretch>
        </p:blipFill>
        <p:spPr>
          <a:xfrm>
            <a:off x="457200" y="2337499"/>
            <a:ext cx="5577840" cy="2320160"/>
          </a:xfrm>
          <a:prstGeom prst="rect">
            <a:avLst/>
          </a:prstGeom>
          <a:ln w="9525">
            <a:solidFill>
              <a:srgbClr val="34A87E"/>
            </a:solidFill>
          </a:ln>
        </p:spPr>
      </p:pic>
      <p:pic>
        <p:nvPicPr>
          <p:cNvPr id="8" name="Picture 7" descr="03b-security-concerns-2.jpg"/>
          <p:cNvPicPr>
            <a:picLocks noChangeAspect="1"/>
          </p:cNvPicPr>
          <p:nvPr/>
        </p:nvPicPr>
        <p:blipFill>
          <a:blip r:embed="rId3"/>
          <a:stretch>
            <a:fillRect/>
          </a:stretch>
        </p:blipFill>
        <p:spPr>
          <a:xfrm>
            <a:off x="6172200" y="2166452"/>
            <a:ext cx="5577840" cy="2662255"/>
          </a:xfrm>
          <a:prstGeom prst="rect">
            <a:avLst/>
          </a:prstGeom>
          <a:ln w="9525">
            <a:solidFill>
              <a:srgbClr val="34A87E"/>
            </a:solidFill>
          </a:ln>
        </p:spPr>
      </p:pic>
      <p:sp>
        <p:nvSpPr>
          <p:cNvPr id="9" name="Rounded Rectangle 8"/>
          <p:cNvSpPr/>
          <p:nvPr/>
        </p:nvSpPr>
        <p:spPr>
          <a:xfrm>
            <a:off x="457200" y="5806440"/>
            <a:ext cx="11247120" cy="5029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897880"/>
            <a:ext cx="10789920" cy="365760"/>
          </a:xfrm>
          <a:prstGeom prst="rect">
            <a:avLst/>
          </a:prstGeom>
          <a:noFill/>
        </p:spPr>
        <p:txBody>
          <a:bodyPr wrap="square" lIns="45720" rIns="45720" tIns="18288" bIns="18288">
            <a:spAutoFit/>
          </a:bodyPr>
          <a:lstStyle/>
          <a:p>
            <a:pPr algn="l"/>
            <a:r>
              <a:rPr sz="1300" b="0">
                <a:solidFill>
                  <a:srgbClr val="E8ECF1"/>
                </a:solidFill>
                <a:latin typeface="Segoe UI"/>
              </a:rPr>
              <a:t>concern-resolver reads security/concerns/*.md and unions per declared app_type → SECURITY_CONCERNS.md.</a:t>
            </a:r>
          </a:p>
        </p:txBody>
      </p:sp>
      <p:sp>
        <p:nvSpPr>
          <p:cNvPr id="11" name="TextBox 10"/>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2" name="TextBox 11"/>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92608"/>
            <a:ext cx="1828800" cy="365760"/>
          </a:xfrm>
          <a:prstGeom prst="rect">
            <a:avLst/>
          </a:prstGeom>
          <a:noFill/>
        </p:spPr>
        <p:txBody>
          <a:bodyPr wrap="square" lIns="45720" rIns="45720" tIns="18288" bIns="18288">
            <a:spAutoFit/>
          </a:bodyPr>
          <a:lstStyle/>
          <a:p>
            <a:pPr algn="l"/>
            <a:r>
              <a:rPr sz="1100" b="1">
                <a:solidFill>
                  <a:srgbClr val="6EE7B7"/>
                </a:solidFill>
                <a:latin typeface="Segoe UI"/>
              </a:rPr>
              <a:t>APPENDIX · 4 / 8</a:t>
            </a:r>
          </a:p>
        </p:txBody>
      </p:sp>
      <p:sp>
        <p:nvSpPr>
          <p:cNvPr id="5" name="TextBox 4"/>
          <p:cNvSpPr txBox="1"/>
          <p:nvPr/>
        </p:nvSpPr>
        <p:spPr>
          <a:xfrm>
            <a:off x="685800" y="594360"/>
            <a:ext cx="10972800" cy="457200"/>
          </a:xfrm>
          <a:prstGeom prst="rect">
            <a:avLst/>
          </a:prstGeom>
          <a:noFill/>
        </p:spPr>
        <p:txBody>
          <a:bodyPr wrap="square" lIns="45720" rIns="45720" tIns="18288" bIns="18288">
            <a:spAutoFit/>
          </a:bodyPr>
          <a:lstStyle/>
          <a:p>
            <a:pPr algn="l"/>
            <a:r>
              <a:rPr sz="2400" b="1">
                <a:solidFill>
                  <a:srgbClr val="E8ECF1"/>
                </a:solidFill>
                <a:latin typeface="Segoe UI"/>
              </a:rPr>
              <a:t>Step 4: ARCHITECTURE.md (plan-before-code)</a:t>
            </a:r>
          </a:p>
        </p:txBody>
      </p:sp>
      <p:sp>
        <p:nvSpPr>
          <p:cNvPr id="6" name="TextBox 5"/>
          <p:cNvSpPr txBox="1"/>
          <p:nvPr/>
        </p:nvSpPr>
        <p:spPr>
          <a:xfrm>
            <a:off x="685800" y="960120"/>
            <a:ext cx="10972800" cy="320040"/>
          </a:xfrm>
          <a:prstGeom prst="rect">
            <a:avLst/>
          </a:prstGeom>
          <a:noFill/>
        </p:spPr>
        <p:txBody>
          <a:bodyPr wrap="square" lIns="45720" rIns="45720" tIns="18288" bIns="18288">
            <a:spAutoFit/>
          </a:bodyPr>
          <a:lstStyle/>
          <a:p>
            <a:pPr algn="l"/>
            <a:r>
              <a:rPr sz="1200" b="0">
                <a:solidFill>
                  <a:srgbClr val="9AA3AF"/>
                </a:solidFill>
                <a:latin typeface="Segoe UI"/>
              </a:rPr>
              <a:t>Trust boundary + HMAC call path, written before any source file</a:t>
            </a:r>
          </a:p>
        </p:txBody>
      </p:sp>
      <p:pic>
        <p:nvPicPr>
          <p:cNvPr id="7" name="Picture 6" descr="04a-arch-system-context.jpg"/>
          <p:cNvPicPr>
            <a:picLocks noChangeAspect="1"/>
          </p:cNvPicPr>
          <p:nvPr/>
        </p:nvPicPr>
        <p:blipFill>
          <a:blip r:embed="rId2"/>
          <a:stretch>
            <a:fillRect/>
          </a:stretch>
        </p:blipFill>
        <p:spPr>
          <a:xfrm>
            <a:off x="630568" y="1325880"/>
            <a:ext cx="5231102" cy="4343400"/>
          </a:xfrm>
          <a:prstGeom prst="rect">
            <a:avLst/>
          </a:prstGeom>
          <a:ln w="9525">
            <a:solidFill>
              <a:srgbClr val="34A87E"/>
            </a:solidFill>
          </a:ln>
        </p:spPr>
      </p:pic>
      <p:pic>
        <p:nvPicPr>
          <p:cNvPr id="8" name="Picture 7" descr="04b-arch-data-flow.jpg"/>
          <p:cNvPicPr>
            <a:picLocks noChangeAspect="1"/>
          </p:cNvPicPr>
          <p:nvPr/>
        </p:nvPicPr>
        <p:blipFill>
          <a:blip r:embed="rId3"/>
          <a:stretch>
            <a:fillRect/>
          </a:stretch>
        </p:blipFill>
        <p:spPr>
          <a:xfrm>
            <a:off x="6172200" y="1465753"/>
            <a:ext cx="5577840" cy="4063653"/>
          </a:xfrm>
          <a:prstGeom prst="rect">
            <a:avLst/>
          </a:prstGeom>
          <a:ln w="9525">
            <a:solidFill>
              <a:srgbClr val="34A87E"/>
            </a:solidFill>
          </a:ln>
        </p:spPr>
      </p:pic>
      <p:sp>
        <p:nvSpPr>
          <p:cNvPr id="9" name="Rounded Rectangle 8"/>
          <p:cNvSpPr/>
          <p:nvPr/>
        </p:nvSpPr>
        <p:spPr>
          <a:xfrm>
            <a:off x="457200" y="5806440"/>
            <a:ext cx="11247120" cy="5029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897880"/>
            <a:ext cx="10789920" cy="365760"/>
          </a:xfrm>
          <a:prstGeom prst="rect">
            <a:avLst/>
          </a:prstGeom>
          <a:noFill/>
        </p:spPr>
        <p:txBody>
          <a:bodyPr wrap="square" lIns="45720" rIns="45720" tIns="18288" bIns="18288">
            <a:spAutoFit/>
          </a:bodyPr>
          <a:lstStyle/>
          <a:p>
            <a:pPr algn="l"/>
            <a:r>
              <a:rPr sz="1300" b="0">
                <a:solidFill>
                  <a:srgbClr val="E8ECF1"/>
                </a:solidFill>
                <a:latin typeface="Segoe UI"/>
              </a:rPr>
              <a:t>Left: system context with trust boundary.   Right: HMAC verify pseudocode — the algorithm settled before the code.</a:t>
            </a:r>
          </a:p>
        </p:txBody>
      </p:sp>
      <p:sp>
        <p:nvSpPr>
          <p:cNvPr id="11" name="TextBox 10"/>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2" name="TextBox 11"/>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92608"/>
            <a:ext cx="1828800" cy="365760"/>
          </a:xfrm>
          <a:prstGeom prst="rect">
            <a:avLst/>
          </a:prstGeom>
          <a:noFill/>
        </p:spPr>
        <p:txBody>
          <a:bodyPr wrap="square" lIns="45720" rIns="45720" tIns="18288" bIns="18288">
            <a:spAutoFit/>
          </a:bodyPr>
          <a:lstStyle/>
          <a:p>
            <a:pPr algn="l"/>
            <a:r>
              <a:rPr sz="1100" b="1">
                <a:solidFill>
                  <a:srgbClr val="6EE7B7"/>
                </a:solidFill>
                <a:latin typeface="Segoe UI"/>
              </a:rPr>
              <a:t>APPENDIX · 5 / 8</a:t>
            </a:r>
          </a:p>
        </p:txBody>
      </p:sp>
      <p:sp>
        <p:nvSpPr>
          <p:cNvPr id="5" name="TextBox 4"/>
          <p:cNvSpPr txBox="1"/>
          <p:nvPr/>
        </p:nvSpPr>
        <p:spPr>
          <a:xfrm>
            <a:off x="685800" y="594360"/>
            <a:ext cx="10972800" cy="457200"/>
          </a:xfrm>
          <a:prstGeom prst="rect">
            <a:avLst/>
          </a:prstGeom>
          <a:noFill/>
        </p:spPr>
        <p:txBody>
          <a:bodyPr wrap="square" lIns="45720" rIns="45720" tIns="18288" bIns="18288">
            <a:spAutoFit/>
          </a:bodyPr>
          <a:lstStyle/>
          <a:p>
            <a:pPr algn="l"/>
            <a:r>
              <a:rPr sz="2400" b="1">
                <a:solidFill>
                  <a:srgbClr val="E8ECF1"/>
                </a:solidFill>
                <a:latin typeface="Segoe UI"/>
              </a:rPr>
              <a:t>Step 5: Parallel coders + advisor escalation</a:t>
            </a:r>
          </a:p>
        </p:txBody>
      </p:sp>
      <p:sp>
        <p:nvSpPr>
          <p:cNvPr id="6" name="TextBox 5"/>
          <p:cNvSpPr txBox="1"/>
          <p:nvPr/>
        </p:nvSpPr>
        <p:spPr>
          <a:xfrm>
            <a:off x="685800" y="960120"/>
            <a:ext cx="10972800" cy="320040"/>
          </a:xfrm>
          <a:prstGeom prst="rect">
            <a:avLst/>
          </a:prstGeom>
          <a:noFill/>
        </p:spPr>
        <p:txBody>
          <a:bodyPr wrap="square" lIns="45720" rIns="45720" tIns="18288" bIns="18288">
            <a:spAutoFit/>
          </a:bodyPr>
          <a:lstStyle/>
          <a:p>
            <a:pPr algn="l"/>
            <a:r>
              <a:rPr sz="1200" b="0">
                <a:solidFill>
                  <a:srgbClr val="9AA3AF"/>
                </a:solidFill>
                <a:latin typeface="Segoe UI"/>
              </a:rPr>
              <a:t>Four coders concurrent. One hits an ambiguous edge — calls the advisor.</a:t>
            </a:r>
          </a:p>
        </p:txBody>
      </p:sp>
      <p:pic>
        <p:nvPicPr>
          <p:cNvPr id="7" name="Picture 6" descr="05a-parallel-coders.jpg"/>
          <p:cNvPicPr>
            <a:picLocks noChangeAspect="1"/>
          </p:cNvPicPr>
          <p:nvPr/>
        </p:nvPicPr>
        <p:blipFill>
          <a:blip r:embed="rId2"/>
          <a:stretch>
            <a:fillRect/>
          </a:stretch>
        </p:blipFill>
        <p:spPr>
          <a:xfrm>
            <a:off x="457200" y="1553218"/>
            <a:ext cx="5577840" cy="3888722"/>
          </a:xfrm>
          <a:prstGeom prst="rect">
            <a:avLst/>
          </a:prstGeom>
          <a:ln w="9525">
            <a:solidFill>
              <a:srgbClr val="34A87E"/>
            </a:solidFill>
          </a:ln>
        </p:spPr>
      </p:pic>
      <p:pic>
        <p:nvPicPr>
          <p:cNvPr id="8" name="Picture 7" descr="05b-advisor.jpg"/>
          <p:cNvPicPr>
            <a:picLocks noChangeAspect="1"/>
          </p:cNvPicPr>
          <p:nvPr/>
        </p:nvPicPr>
        <p:blipFill>
          <a:blip r:embed="rId3"/>
          <a:stretch>
            <a:fillRect/>
          </a:stretch>
        </p:blipFill>
        <p:spPr>
          <a:xfrm>
            <a:off x="6172200" y="1521452"/>
            <a:ext cx="5577840" cy="3952254"/>
          </a:xfrm>
          <a:prstGeom prst="rect">
            <a:avLst/>
          </a:prstGeom>
          <a:ln w="9525">
            <a:solidFill>
              <a:srgbClr val="34A87E"/>
            </a:solidFill>
          </a:ln>
        </p:spPr>
      </p:pic>
      <p:sp>
        <p:nvSpPr>
          <p:cNvPr id="9" name="Rounded Rectangle 8"/>
          <p:cNvSpPr/>
          <p:nvPr/>
        </p:nvSpPr>
        <p:spPr>
          <a:xfrm>
            <a:off x="457200" y="5806440"/>
            <a:ext cx="11247120" cy="5029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897880"/>
            <a:ext cx="10789920" cy="365760"/>
          </a:xfrm>
          <a:prstGeom prst="rect">
            <a:avLst/>
          </a:prstGeom>
          <a:noFill/>
        </p:spPr>
        <p:txBody>
          <a:bodyPr wrap="square" lIns="45720" rIns="45720" tIns="18288" bIns="18288">
            <a:spAutoFit/>
          </a:bodyPr>
          <a:lstStyle/>
          <a:p>
            <a:pPr algn="l"/>
            <a:r>
              <a:rPr sz="1300" b="0">
                <a:solidFill>
                  <a:srgbClr val="E8ECF1"/>
                </a:solidFill>
                <a:latin typeface="Segoe UI"/>
              </a:rPr>
              <a:t>Left: four agents running in parallel.   Right: one of them consults the advisor on a header-length bound.</a:t>
            </a:r>
          </a:p>
        </p:txBody>
      </p:sp>
      <p:sp>
        <p:nvSpPr>
          <p:cNvPr id="11" name="TextBox 10"/>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2" name="TextBox 11"/>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92608"/>
            <a:ext cx="1828800" cy="365760"/>
          </a:xfrm>
          <a:prstGeom prst="rect">
            <a:avLst/>
          </a:prstGeom>
          <a:noFill/>
        </p:spPr>
        <p:txBody>
          <a:bodyPr wrap="square" lIns="45720" rIns="45720" tIns="18288" bIns="18288">
            <a:spAutoFit/>
          </a:bodyPr>
          <a:lstStyle/>
          <a:p>
            <a:pPr algn="l"/>
            <a:r>
              <a:rPr sz="1100" b="1">
                <a:solidFill>
                  <a:srgbClr val="6EE7B7"/>
                </a:solidFill>
                <a:latin typeface="Segoe UI"/>
              </a:rPr>
              <a:t>APPENDIX · 6 / 8</a:t>
            </a:r>
          </a:p>
        </p:txBody>
      </p:sp>
      <p:sp>
        <p:nvSpPr>
          <p:cNvPr id="5" name="TextBox 4"/>
          <p:cNvSpPr txBox="1"/>
          <p:nvPr/>
        </p:nvSpPr>
        <p:spPr>
          <a:xfrm>
            <a:off x="685800" y="594360"/>
            <a:ext cx="10972800" cy="457200"/>
          </a:xfrm>
          <a:prstGeom prst="rect">
            <a:avLst/>
          </a:prstGeom>
          <a:noFill/>
        </p:spPr>
        <p:txBody>
          <a:bodyPr wrap="square" lIns="45720" rIns="45720" tIns="18288" bIns="18288">
            <a:spAutoFit/>
          </a:bodyPr>
          <a:lstStyle/>
          <a:p>
            <a:pPr algn="l"/>
            <a:r>
              <a:rPr sz="2400" b="1">
                <a:solidFill>
                  <a:srgbClr val="E8ECF1"/>
                </a:solidFill>
                <a:latin typeface="Segoe UI"/>
              </a:rPr>
              <a:t>Karen + human-in-the-loop triage</a:t>
            </a:r>
          </a:p>
        </p:txBody>
      </p:sp>
      <p:sp>
        <p:nvSpPr>
          <p:cNvPr id="6" name="TextBox 5"/>
          <p:cNvSpPr txBox="1"/>
          <p:nvPr/>
        </p:nvSpPr>
        <p:spPr>
          <a:xfrm>
            <a:off x="685800" y="960120"/>
            <a:ext cx="10972800" cy="320040"/>
          </a:xfrm>
          <a:prstGeom prst="rect">
            <a:avLst/>
          </a:prstGeom>
          <a:noFill/>
        </p:spPr>
        <p:txBody>
          <a:bodyPr wrap="square" lIns="45720" rIns="45720" tIns="18288" bIns="18288">
            <a:spAutoFit/>
          </a:bodyPr>
          <a:lstStyle/>
          <a:p>
            <a:pPr algn="l"/>
            <a:r>
              <a:rPr sz="1200" b="0">
                <a:solidFill>
                  <a:srgbClr val="9AA3AF"/>
                </a:solidFill>
                <a:latin typeface="Segoe UI"/>
              </a:rPr>
              <a:t>When the audit surfaces work outside scope, the human stays in control</a:t>
            </a:r>
          </a:p>
        </p:txBody>
      </p:sp>
      <p:pic>
        <p:nvPicPr>
          <p:cNvPr id="7" name="Picture 6" descr="06-karen-triage.jpg"/>
          <p:cNvPicPr>
            <a:picLocks noChangeAspect="1"/>
          </p:cNvPicPr>
          <p:nvPr/>
        </p:nvPicPr>
        <p:blipFill>
          <a:blip r:embed="rId2"/>
          <a:stretch>
            <a:fillRect/>
          </a:stretch>
        </p:blipFill>
        <p:spPr>
          <a:xfrm>
            <a:off x="1884843" y="1325880"/>
            <a:ext cx="8391832" cy="4343400"/>
          </a:xfrm>
          <a:prstGeom prst="rect">
            <a:avLst/>
          </a:prstGeom>
          <a:ln w="9525">
            <a:solidFill>
              <a:srgbClr val="34A87E"/>
            </a:solidFill>
          </a:ln>
        </p:spPr>
      </p:pic>
      <p:sp>
        <p:nvSpPr>
          <p:cNvPr id="8" name="Rounded Rectangle 7"/>
          <p:cNvSpPr/>
          <p:nvPr/>
        </p:nvSpPr>
        <p:spPr>
          <a:xfrm>
            <a:off x="457200" y="5806440"/>
            <a:ext cx="11247120" cy="5029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897880"/>
            <a:ext cx="10789920" cy="365760"/>
          </a:xfrm>
          <a:prstGeom prst="rect">
            <a:avLst/>
          </a:prstGeom>
          <a:noFill/>
        </p:spPr>
        <p:txBody>
          <a:bodyPr wrap="square" lIns="45720" rIns="45720" tIns="18288" bIns="18288">
            <a:spAutoFit/>
          </a:bodyPr>
          <a:lstStyle/>
          <a:p>
            <a:pPr algn="l"/>
            <a:r>
              <a:rPr sz="1300" b="0">
                <a:solidFill>
                  <a:srgbClr val="E8ECF1"/>
                </a:solidFill>
                <a:latin typeface="Segoe UI"/>
              </a:rPr>
              <a:t>160 / 182 tests pass. 22 failures = pre-existing test bugs. Karen names the failure mode and proceeds. Human picked Option C.</a:t>
            </a:r>
          </a:p>
        </p:txBody>
      </p:sp>
      <p:sp>
        <p:nvSpPr>
          <p:cNvPr id="10" name="TextBox 9"/>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1" name="TextBox 10"/>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92608"/>
            <a:ext cx="1828800" cy="365760"/>
          </a:xfrm>
          <a:prstGeom prst="rect">
            <a:avLst/>
          </a:prstGeom>
          <a:noFill/>
        </p:spPr>
        <p:txBody>
          <a:bodyPr wrap="square" lIns="45720" rIns="45720" tIns="18288" bIns="18288">
            <a:spAutoFit/>
          </a:bodyPr>
          <a:lstStyle/>
          <a:p>
            <a:pPr algn="l"/>
            <a:r>
              <a:rPr sz="1100" b="1">
                <a:solidFill>
                  <a:srgbClr val="6EE7B7"/>
                </a:solidFill>
                <a:latin typeface="Segoe UI"/>
              </a:rPr>
              <a:t>APPENDIX · 7 / 8</a:t>
            </a:r>
          </a:p>
        </p:txBody>
      </p:sp>
      <p:sp>
        <p:nvSpPr>
          <p:cNvPr id="5" name="TextBox 4"/>
          <p:cNvSpPr txBox="1"/>
          <p:nvPr/>
        </p:nvSpPr>
        <p:spPr>
          <a:xfrm>
            <a:off x="685800" y="594360"/>
            <a:ext cx="10972800" cy="457200"/>
          </a:xfrm>
          <a:prstGeom prst="rect">
            <a:avLst/>
          </a:prstGeom>
          <a:noFill/>
        </p:spPr>
        <p:txBody>
          <a:bodyPr wrap="square" lIns="45720" rIns="45720" tIns="18288" bIns="18288">
            <a:spAutoFit/>
          </a:bodyPr>
          <a:lstStyle/>
          <a:p>
            <a:pPr algn="l"/>
            <a:r>
              <a:rPr sz="2400" b="1">
                <a:solidFill>
                  <a:srgbClr val="E8ECF1"/>
                </a:solidFill>
                <a:latin typeface="Segoe UI"/>
              </a:rPr>
              <a:t>The final scoreboard</a:t>
            </a:r>
          </a:p>
        </p:txBody>
      </p:sp>
      <p:sp>
        <p:nvSpPr>
          <p:cNvPr id="6" name="TextBox 5"/>
          <p:cNvSpPr txBox="1"/>
          <p:nvPr/>
        </p:nvSpPr>
        <p:spPr>
          <a:xfrm>
            <a:off x="685800" y="960120"/>
            <a:ext cx="10972800" cy="320040"/>
          </a:xfrm>
          <a:prstGeom prst="rect">
            <a:avLst/>
          </a:prstGeom>
          <a:noFill/>
        </p:spPr>
        <p:txBody>
          <a:bodyPr wrap="square" lIns="45720" rIns="45720" tIns="18288" bIns="18288">
            <a:spAutoFit/>
          </a:bodyPr>
          <a:lstStyle/>
          <a:p>
            <a:pPr algn="l"/>
            <a:r>
              <a:rPr sz="1200" b="0">
                <a:solidFill>
                  <a:srgbClr val="9AA3AF"/>
                </a:solidFill>
                <a:latin typeface="Segoe UI"/>
              </a:rPr>
              <a:t>Every stage's result, one screen, baked in 30 m 13 s</a:t>
            </a:r>
          </a:p>
        </p:txBody>
      </p:sp>
      <p:pic>
        <p:nvPicPr>
          <p:cNvPr id="7" name="Picture 6" descr="07-scoreboard.jpg"/>
          <p:cNvPicPr>
            <a:picLocks noChangeAspect="1"/>
          </p:cNvPicPr>
          <p:nvPr/>
        </p:nvPicPr>
        <p:blipFill>
          <a:blip r:embed="rId2"/>
          <a:stretch>
            <a:fillRect/>
          </a:stretch>
        </p:blipFill>
        <p:spPr>
          <a:xfrm>
            <a:off x="1940052" y="1325880"/>
            <a:ext cx="8281416" cy="4343400"/>
          </a:xfrm>
          <a:prstGeom prst="rect">
            <a:avLst/>
          </a:prstGeom>
          <a:ln w="9525">
            <a:solidFill>
              <a:srgbClr val="34A87E"/>
            </a:solidFill>
          </a:ln>
        </p:spPr>
      </p:pic>
      <p:sp>
        <p:nvSpPr>
          <p:cNvPr id="8" name="Rounded Rectangle 7"/>
          <p:cNvSpPr/>
          <p:nvPr/>
        </p:nvSpPr>
        <p:spPr>
          <a:xfrm>
            <a:off x="457200" y="5806440"/>
            <a:ext cx="11247120" cy="5029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897880"/>
            <a:ext cx="10789920" cy="365760"/>
          </a:xfrm>
          <a:prstGeom prst="rect">
            <a:avLst/>
          </a:prstGeom>
          <a:noFill/>
        </p:spPr>
        <p:txBody>
          <a:bodyPr wrap="square" lIns="45720" rIns="45720" tIns="18288" bIns="18288">
            <a:spAutoFit/>
          </a:bodyPr>
          <a:lstStyle/>
          <a:p>
            <a:pPr algn="l"/>
            <a:r>
              <a:rPr sz="1300" b="0">
                <a:solidFill>
                  <a:srgbClr val="6EE7B7"/>
                </a:solidFill>
                <a:latin typeface="Segoe UI"/>
              </a:rPr>
              <a:t>TDD red phase · parallel + sequential coders · 22 pre-existing fails accepted · 2 medium security findings · 1 fixed, 1 documented · PR open.</a:t>
            </a:r>
          </a:p>
        </p:txBody>
      </p:sp>
      <p:sp>
        <p:nvSpPr>
          <p:cNvPr id="10" name="TextBox 9"/>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1" name="TextBox 10"/>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73152" cy="502920"/>
          </a:xfrm>
          <a:prstGeom prst="rect">
            <a:avLst/>
          </a:prstGeom>
          <a:solidFill>
            <a:srgbClr val="6EE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92608"/>
            <a:ext cx="1828800" cy="365760"/>
          </a:xfrm>
          <a:prstGeom prst="rect">
            <a:avLst/>
          </a:prstGeom>
          <a:noFill/>
        </p:spPr>
        <p:txBody>
          <a:bodyPr wrap="square" lIns="45720" rIns="45720" tIns="18288" bIns="18288">
            <a:spAutoFit/>
          </a:bodyPr>
          <a:lstStyle/>
          <a:p>
            <a:pPr algn="l"/>
            <a:r>
              <a:rPr sz="1100" b="1">
                <a:solidFill>
                  <a:srgbClr val="6EE7B7"/>
                </a:solidFill>
                <a:latin typeface="Segoe UI"/>
              </a:rPr>
              <a:t>APPENDIX · 8 / 8</a:t>
            </a:r>
          </a:p>
        </p:txBody>
      </p:sp>
      <p:sp>
        <p:nvSpPr>
          <p:cNvPr id="5" name="TextBox 4"/>
          <p:cNvSpPr txBox="1"/>
          <p:nvPr/>
        </p:nvSpPr>
        <p:spPr>
          <a:xfrm>
            <a:off x="685800" y="594360"/>
            <a:ext cx="10972800" cy="457200"/>
          </a:xfrm>
          <a:prstGeom prst="rect">
            <a:avLst/>
          </a:prstGeom>
          <a:noFill/>
        </p:spPr>
        <p:txBody>
          <a:bodyPr wrap="square" lIns="45720" rIns="45720" tIns="18288" bIns="18288">
            <a:spAutoFit/>
          </a:bodyPr>
          <a:lstStyle/>
          <a:p>
            <a:pPr algn="l"/>
            <a:r>
              <a:rPr sz="2400" b="1">
                <a:solidFill>
                  <a:srgbClr val="E8ECF1"/>
                </a:solidFill>
                <a:latin typeface="Segoe UI"/>
              </a:rPr>
              <a:t>Receipts under the hood</a:t>
            </a:r>
          </a:p>
        </p:txBody>
      </p:sp>
      <p:sp>
        <p:nvSpPr>
          <p:cNvPr id="6" name="TextBox 5"/>
          <p:cNvSpPr txBox="1"/>
          <p:nvPr/>
        </p:nvSpPr>
        <p:spPr>
          <a:xfrm>
            <a:off x="685800" y="960120"/>
            <a:ext cx="10972800" cy="320040"/>
          </a:xfrm>
          <a:prstGeom prst="rect">
            <a:avLst/>
          </a:prstGeom>
          <a:noFill/>
        </p:spPr>
        <p:txBody>
          <a:bodyPr wrap="square" lIns="45720" rIns="45720" tIns="18288" bIns="18288">
            <a:spAutoFit/>
          </a:bodyPr>
          <a:lstStyle/>
          <a:p>
            <a:pPr algn="l"/>
            <a:r>
              <a:rPr sz="1200" b="0">
                <a:solidFill>
                  <a:srgbClr val="9AA3AF"/>
                </a:solidFill>
                <a:latin typeface="Segoe UI"/>
              </a:rPr>
              <a:t>The JSONL audit trail from slide 8, in the wild</a:t>
            </a:r>
          </a:p>
        </p:txBody>
      </p:sp>
      <p:pic>
        <p:nvPicPr>
          <p:cNvPr id="7" name="Picture 6" descr="08a-jsonl-1.jpg"/>
          <p:cNvPicPr>
            <a:picLocks noChangeAspect="1"/>
          </p:cNvPicPr>
          <p:nvPr/>
        </p:nvPicPr>
        <p:blipFill>
          <a:blip r:embed="rId2"/>
          <a:stretch>
            <a:fillRect/>
          </a:stretch>
        </p:blipFill>
        <p:spPr>
          <a:xfrm>
            <a:off x="457200" y="2907817"/>
            <a:ext cx="5577840" cy="1179524"/>
          </a:xfrm>
          <a:prstGeom prst="rect">
            <a:avLst/>
          </a:prstGeom>
          <a:ln w="9525">
            <a:solidFill>
              <a:srgbClr val="34A87E"/>
            </a:solidFill>
          </a:ln>
        </p:spPr>
      </p:pic>
      <p:pic>
        <p:nvPicPr>
          <p:cNvPr id="8" name="Picture 7" descr="08b-jsonl-2.jpg"/>
          <p:cNvPicPr>
            <a:picLocks noChangeAspect="1"/>
          </p:cNvPicPr>
          <p:nvPr/>
        </p:nvPicPr>
        <p:blipFill>
          <a:blip r:embed="rId3"/>
          <a:stretch>
            <a:fillRect/>
          </a:stretch>
        </p:blipFill>
        <p:spPr>
          <a:xfrm>
            <a:off x="6450679" y="1325880"/>
            <a:ext cx="5020880" cy="4343400"/>
          </a:xfrm>
          <a:prstGeom prst="rect">
            <a:avLst/>
          </a:prstGeom>
          <a:ln w="9525">
            <a:solidFill>
              <a:srgbClr val="34A87E"/>
            </a:solidFill>
          </a:ln>
        </p:spPr>
      </p:pic>
      <p:sp>
        <p:nvSpPr>
          <p:cNvPr id="9" name="Rounded Rectangle 8"/>
          <p:cNvSpPr/>
          <p:nvPr/>
        </p:nvSpPr>
        <p:spPr>
          <a:xfrm>
            <a:off x="457200" y="5806440"/>
            <a:ext cx="11247120" cy="502920"/>
          </a:xfrm>
          <a:prstGeom prst="roundRect">
            <a:avLst/>
          </a:prstGeom>
          <a:solidFill>
            <a:srgbClr val="181F2A"/>
          </a:solidFill>
          <a:ln w="9525">
            <a:solidFill>
              <a:srgbClr val="34A8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897880"/>
            <a:ext cx="10789920" cy="365760"/>
          </a:xfrm>
          <a:prstGeom prst="rect">
            <a:avLst/>
          </a:prstGeom>
          <a:noFill/>
        </p:spPr>
        <p:txBody>
          <a:bodyPr wrap="square" lIns="45720" rIns="45720" tIns="18288" bIns="18288">
            <a:spAutoFit/>
          </a:bodyPr>
          <a:lstStyle/>
          <a:p>
            <a:pPr algn="l"/>
            <a:r>
              <a:rPr sz="1300" b="0">
                <a:solidFill>
                  <a:srgbClr val="E8ECF1"/>
                </a:solidFill>
                <a:latin typeface="Segoe UI"/>
              </a:rPr>
              <a:t>log_tool_call.sh in action: every Read, Bash, Edit, Agent spawn, web fetch — append-only JSONL.</a:t>
            </a:r>
          </a:p>
        </p:txBody>
      </p:sp>
      <p:sp>
        <p:nvSpPr>
          <p:cNvPr id="11" name="TextBox 10"/>
          <p:cNvSpPr txBox="1"/>
          <p:nvPr/>
        </p:nvSpPr>
        <p:spPr>
          <a:xfrm>
            <a:off x="457200" y="6400800"/>
            <a:ext cx="5486400" cy="274320"/>
          </a:xfrm>
          <a:prstGeom prst="rect">
            <a:avLst/>
          </a:prstGeom>
          <a:noFill/>
        </p:spPr>
        <p:txBody>
          <a:bodyPr wrap="square" lIns="45720" rIns="45720" tIns="18288" bIns="18288">
            <a:spAutoFit/>
          </a:bodyPr>
          <a:lstStyle/>
          <a:p>
            <a:pPr algn="l"/>
            <a:r>
              <a:rPr sz="1000" b="0">
                <a:solidFill>
                  <a:srgbClr val="9AA3AF"/>
                </a:solidFill>
                <a:latin typeface="Segoe UI"/>
              </a:rPr>
              <a:t>EFF-IT  —  A Claude Code harness</a:t>
            </a:r>
          </a:p>
        </p:txBody>
      </p:sp>
      <p:sp>
        <p:nvSpPr>
          <p:cNvPr id="12" name="TextBox 11"/>
          <p:cNvSpPr txBox="1"/>
          <p:nvPr/>
        </p:nvSpPr>
        <p:spPr>
          <a:xfrm>
            <a:off x="10515600" y="6400800"/>
            <a:ext cx="1645920" cy="274320"/>
          </a:xfrm>
          <a:prstGeom prst="rect">
            <a:avLst/>
          </a:prstGeom>
          <a:noFill/>
        </p:spPr>
        <p:txBody>
          <a:bodyPr wrap="square" lIns="45720" rIns="45720" tIns="18288" bIns="18288">
            <a:spAutoFit/>
          </a:bodyPr>
          <a:lstStyle/>
          <a:p>
            <a:pPr algn="r"/>
            <a:r>
              <a:rPr sz="1000" b="0">
                <a:solidFill>
                  <a:srgbClr val="9AA3AF"/>
                </a:solidFill>
                <a:latin typeface="Segoe U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